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detail: process_row() in app/orchestration/pipeline.py runs every stage synchronously per record with a try/except isolation boundary — one malformed row (STATUS_PROCESSING_FAILED) never kills a batch. Each stage returns a typed result object (ResolutionResult, ClassificationResult, ClaimRegistry, ValidationReport, ConfidenceBreakdown, ReviewEntry) that's serialized directly into the API/UI — there's no separate 'demo' code path, what judges see live is exactly what's under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reproducible output — run `python -m app.cli enrich --input data/raw/sample_1000_items_input.csv --output out.xlsx` or hit POST /api/enrich-single with this exact Part_Desc. The MPN prefix 'PDSH' is matched against a confirmed pattern in data/reference/mpn_prefix_patterns.csv, verified against the ground-truth delivery format row for this exact SKU — this is not a canned example, it's the actual pipeline output for the actual row. Compare to tests/regression/test_ground_truth_regression.py, which pins this exact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directly from `make evaluate` / app/evaluation/evaluator.py writing reports/evaluation.md — nothing here is hand-picked. The 26.8% classification-resolution rate reflects that only 11 leaf categories were seeded into data/reference/category_keywords.csv in the available build time (the categories actually present in the 1000-row sample); it's a coverage gap from limited authoring time, not an architectural ceiling — the classifier is table-driven, so widening coverage means adding rows, not code. See docs/design-decisions.md section 3 for the full honest accounting, and docs/evaluation.md for the baseline-vs-hybrid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11827"/>
          </a:solidFill>
          <a:ln/>
        </p:spPr>
      </p:sp>
      <p:sp>
        <p:nvSpPr>
          <p:cNvPr id="3" name="Shape 1"/>
          <p:cNvSpPr/>
          <p:nvPr/>
        </p:nvSpPr>
        <p:spPr>
          <a:xfrm>
            <a:off x="8778240" y="-2011680"/>
            <a:ext cx="5486400" cy="5486400"/>
          </a:xfrm>
          <a:prstGeom prst="ellipse">
            <a:avLst/>
          </a:prstGeom>
          <a:solidFill>
            <a:srgbClr val="1A2650"/>
          </a:solidFill>
          <a:ln/>
        </p:spPr>
      </p:sp>
      <p:sp>
        <p:nvSpPr>
          <p:cNvPr id="4" name="Shape 2"/>
          <p:cNvSpPr/>
          <p:nvPr/>
        </p:nvSpPr>
        <p:spPr>
          <a:xfrm>
            <a:off x="-1828800" y="4389120"/>
            <a:ext cx="4572000" cy="4572000"/>
          </a:xfrm>
          <a:prstGeom prst="ellipse">
            <a:avLst/>
          </a:prstGeom>
          <a:solidFill>
            <a:srgbClr val="162041"/>
          </a:solidFill>
          <a:ln/>
        </p:spPr>
      </p:sp>
      <p:sp>
        <p:nvSpPr>
          <p:cNvPr id="5" name="Shape 3"/>
          <p:cNvSpPr/>
          <p:nvPr/>
        </p:nvSpPr>
        <p:spPr>
          <a:xfrm>
            <a:off x="548640" y="548640"/>
            <a:ext cx="502920" cy="502920"/>
          </a:xfrm>
          <a:prstGeom prst="roundRect">
            <a:avLst>
              <a:gd name="adj" fmla="val 21818"/>
            </a:avLst>
          </a:prstGeom>
          <a:solidFill>
            <a:srgbClr val="1D5FD6"/>
          </a:solidFill>
          <a:ln/>
        </p:spPr>
      </p:sp>
      <p:sp>
        <p:nvSpPr>
          <p:cNvPr id="6" name="Text 4"/>
          <p:cNvSpPr/>
          <p:nvPr/>
        </p:nvSpPr>
        <p:spPr>
          <a:xfrm>
            <a:off x="548640" y="548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UI</a:t>
            </a:r>
            <a:endParaRPr lang="en-US" sz="1500" dirty="0"/>
          </a:p>
        </p:txBody>
      </p:sp>
      <p:sp>
        <p:nvSpPr>
          <p:cNvPr id="7" name="Text 5"/>
          <p:cNvSpPr/>
          <p:nvPr/>
        </p:nvSpPr>
        <p:spPr>
          <a:xfrm>
            <a:off x="1188720" y="594360"/>
            <a:ext cx="5486400" cy="365760"/>
          </a:xfrm>
          <a:prstGeom prst="rect">
            <a:avLst/>
          </a:prstGeom>
          <a:noFill/>
          <a:ln/>
        </p:spPr>
        <p:txBody>
          <a:bodyPr wrap="square" lIns="0" tIns="0" rIns="0" bIns="0" rtlCol="0" anchor="ctr"/>
          <a:lstStyle/>
          <a:p>
            <a:pPr indent="0" marL="0">
              <a:buNone/>
            </a:pPr>
            <a:r>
              <a:rPr lang="en-US" sz="1100" b="1" spc="200" kern="0" dirty="0">
                <a:solidFill>
                  <a:srgbClr val="8F9BB3"/>
                </a:solidFill>
                <a:latin typeface="Calibri" pitchFamily="34" charset="0"/>
                <a:ea typeface="Calibri" pitchFamily="34" charset="-122"/>
                <a:cs typeface="Calibri" pitchFamily="34" charset="-120"/>
              </a:rPr>
              <a:t>UNILOG CHALLENGE SUBMISSION</a:t>
            </a:r>
            <a:endParaRPr lang="en-US" sz="1100" dirty="0"/>
          </a:p>
        </p:txBody>
      </p:sp>
      <p:sp>
        <p:nvSpPr>
          <p:cNvPr id="8" name="Text 6"/>
          <p:cNvSpPr/>
          <p:nvPr/>
        </p:nvSpPr>
        <p:spPr>
          <a:xfrm>
            <a:off x="640080" y="233172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Unilog Product Intelligence</a:t>
            </a:r>
            <a:endParaRPr lang="en-US" sz="4400" dirty="0"/>
          </a:p>
        </p:txBody>
      </p:sp>
      <p:sp>
        <p:nvSpPr>
          <p:cNvPr id="9" name="Text 7"/>
          <p:cNvSpPr/>
          <p:nvPr/>
        </p:nvSpPr>
        <p:spPr>
          <a:xfrm>
            <a:off x="640080" y="3154680"/>
            <a:ext cx="10515600" cy="640080"/>
          </a:xfrm>
          <a:prstGeom prst="rect">
            <a:avLst/>
          </a:prstGeom>
          <a:noFill/>
          <a:ln/>
        </p:spPr>
        <p:txBody>
          <a:bodyPr wrap="square" lIns="0" tIns="0" rIns="0" bIns="0" rtlCol="0" anchor="ctr"/>
          <a:lstStyle/>
          <a:p>
            <a:pPr indent="0" marL="0">
              <a:buNone/>
            </a:pPr>
            <a:r>
              <a:rPr lang="en-US" sz="2600" i="1" dirty="0">
                <a:solidFill>
                  <a:srgbClr val="1D5FD6"/>
                </a:solidFill>
                <a:latin typeface="Cambria" pitchFamily="34" charset="0"/>
                <a:ea typeface="Cambria" pitchFamily="34" charset="-122"/>
                <a:cs typeface="Cambria" pitchFamily="34" charset="-120"/>
              </a:rPr>
              <a:t>AI Product Data Compiler</a:t>
            </a:r>
            <a:endParaRPr lang="en-US" sz="2600" dirty="0"/>
          </a:p>
        </p:txBody>
      </p:sp>
      <p:sp>
        <p:nvSpPr>
          <p:cNvPr id="10" name="Text 8"/>
          <p:cNvSpPr/>
          <p:nvPr/>
        </p:nvSpPr>
        <p:spPr>
          <a:xfrm>
            <a:off x="640080" y="3977640"/>
            <a:ext cx="9144000" cy="822960"/>
          </a:xfrm>
          <a:prstGeom prst="rect">
            <a:avLst/>
          </a:prstGeom>
          <a:noFill/>
          <a:ln/>
        </p:spPr>
        <p:txBody>
          <a:bodyPr wrap="square" lIns="0" tIns="0" rIns="0" bIns="0" rtlCol="0" anchor="ctr"/>
          <a:lstStyle/>
          <a:p>
            <a:pPr indent="0" marL="0">
              <a:lnSpc>
                <a:spcPct val="130000"/>
              </a:lnSpc>
              <a:buNone/>
            </a:pPr>
            <a:r>
              <a:rPr lang="en-US" sz="1500" dirty="0">
                <a:solidFill>
                  <a:srgbClr val="C6CEDD"/>
                </a:solidFill>
                <a:latin typeface="Calibri" pitchFamily="34" charset="0"/>
                <a:ea typeface="Calibri" pitchFamily="34" charset="-122"/>
                <a:cs typeface="Calibri" pitchFamily="34" charset="-120"/>
              </a:rPr>
              <a:t>AI-Powered Product Intelligence for Industrial Commerce — a grounded, evidence-based</a:t>
            </a:r>
            <a:endParaRPr lang="en-US" sz="1500" dirty="0"/>
          </a:p>
          <a:p>
            <a:pPr indent="0" marL="0">
              <a:lnSpc>
                <a:spcPct val="130000"/>
              </a:lnSpc>
              <a:buNone/>
            </a:pPr>
            <a:r>
              <a:rPr lang="en-US" sz="1500" dirty="0">
                <a:solidFill>
                  <a:srgbClr val="C6CEDD"/>
                </a:solidFill>
                <a:latin typeface="Calibri" pitchFamily="34" charset="0"/>
                <a:ea typeface="Calibri" pitchFamily="34" charset="-122"/>
                <a:cs typeface="Calibri" pitchFamily="34" charset="-120"/>
              </a:rPr>
              <a:t>enrichment pipeline, not a chatbot or a free-text generator.</a:t>
            </a:r>
            <a:endParaRPr lang="en-US" sz="1500" dirty="0"/>
          </a:p>
        </p:txBody>
      </p:sp>
      <p:sp>
        <p:nvSpPr>
          <p:cNvPr id="11" name="Shape 9"/>
          <p:cNvSpPr/>
          <p:nvPr/>
        </p:nvSpPr>
        <p:spPr>
          <a:xfrm>
            <a:off x="640080" y="5166360"/>
            <a:ext cx="10881360" cy="868680"/>
          </a:xfrm>
          <a:prstGeom prst="roundRect">
            <a:avLst>
              <a:gd name="adj" fmla="val 8421"/>
            </a:avLst>
          </a:prstGeom>
          <a:solidFill>
            <a:srgbClr val="1A2244"/>
          </a:solidFill>
          <a:ln w="12700">
            <a:solidFill>
              <a:srgbClr val="E2E6EC"/>
            </a:solidFill>
            <a:prstDash val="solid"/>
          </a:ln>
        </p:spPr>
      </p:sp>
      <p:sp>
        <p:nvSpPr>
          <p:cNvPr id="12" name="Text 10"/>
          <p:cNvSpPr/>
          <p:nvPr/>
        </p:nvSpPr>
        <p:spPr>
          <a:xfrm>
            <a:off x="914400" y="5285232"/>
            <a:ext cx="10332720" cy="640080"/>
          </a:xfrm>
          <a:prstGeom prst="rect">
            <a:avLst/>
          </a:prstGeom>
          <a:noFill/>
          <a:ln/>
        </p:spPr>
        <p:txBody>
          <a:bodyPr wrap="square" lIns="0" tIns="0" rIns="0" bIns="0" rtlCol="0" anchor="t"/>
          <a:lstStyle/>
          <a:p>
            <a:pPr indent="0" marL="0">
              <a:lnSpc>
                <a:spcPct val="125000"/>
              </a:lnSpc>
              <a:buNone/>
            </a:pPr>
            <a:r>
              <a:rPr lang="en-US" sz="1050" b="1" dirty="0">
                <a:solidFill>
                  <a:srgbClr val="FFFFFF"/>
                </a:solidFill>
                <a:latin typeface="Calibri" pitchFamily="34" charset="0"/>
                <a:ea typeface="Calibri" pitchFamily="34" charset="-122"/>
                <a:cs typeface="Calibri" pitchFamily="34" charset="-120"/>
              </a:rPr>
              <a:t>Note on this deck:  </a:t>
            </a:r>
            <a:pPr indent="0" marL="0">
              <a:lnSpc>
                <a:spcPct val="125000"/>
              </a:lnSpc>
              <a:buNone/>
            </a:pPr>
            <a:r>
              <a:rPr lang="en-US" sz="1050" dirty="0">
                <a:solidFill>
                  <a:srgbClr val="AEB8CC"/>
                </a:solidFill>
                <a:latin typeface="Calibri" pitchFamily="34" charset="0"/>
                <a:ea typeface="Calibri" pitchFamily="34" charset="-122"/>
                <a:cs typeface="Calibri" pitchFamily="34" charset="-120"/>
              </a:rPr>
              <a:t>the official Google Slides template could not be downloaded in this sandboxed build environment (network egress to docs.google.com is blocked). This deck mirrors the required section structure with real project content — copy these sections into the official template before final submission.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Industrial product data starts as noise</a:t>
            </a:r>
            <a:endParaRPr lang="en-US" sz="3000" dirty="0"/>
          </a:p>
        </p:txBody>
      </p:sp>
      <p:sp>
        <p:nvSpPr>
          <p:cNvPr id="4" name="Text 2"/>
          <p:cNvSpPr/>
          <p:nvPr/>
        </p:nvSpPr>
        <p:spPr>
          <a:xfrm>
            <a:off x="548640" y="1554480"/>
            <a:ext cx="10515600" cy="548640"/>
          </a:xfrm>
          <a:prstGeom prst="rect">
            <a:avLst/>
          </a:prstGeom>
          <a:noFill/>
          <a:ln/>
        </p:spPr>
        <p:txBody>
          <a:bodyPr wrap="square" lIns="0" tIns="0" rIns="0" bIns="0" rtlCol="0" anchor="ctr"/>
          <a:lstStyle/>
          <a:p>
            <a:pPr indent="0" marL="0">
              <a:buNone/>
            </a:pPr>
            <a:r>
              <a:rPr lang="en-US" sz="1450" dirty="0">
                <a:solidFill>
                  <a:srgbClr val="5B6472"/>
                </a:solidFill>
                <a:latin typeface="Calibri" pitchFamily="34" charset="0"/>
                <a:ea typeface="Calibri" pitchFamily="34" charset="-122"/>
                <a:cs typeface="Calibri" pitchFamily="34" charset="-120"/>
              </a:rPr>
              <a:t>Distributors manage product information scattered across catalogs, ERPs, and spec sheets. What actually reaches the catalog team looks like this:</a:t>
            </a:r>
            <a:endParaRPr lang="en-US" sz="1450" dirty="0"/>
          </a:p>
        </p:txBody>
      </p:sp>
      <p:sp>
        <p:nvSpPr>
          <p:cNvPr id="5" name="Shape 3"/>
          <p:cNvSpPr/>
          <p:nvPr/>
        </p:nvSpPr>
        <p:spPr>
          <a:xfrm>
            <a:off x="548640" y="2331720"/>
            <a:ext cx="5349240" cy="1371600"/>
          </a:xfrm>
          <a:prstGeom prst="roundRect">
            <a:avLst>
              <a:gd name="adj" fmla="val 5333"/>
            </a:avLst>
          </a:prstGeom>
          <a:solidFill>
            <a:srgbClr val="111827"/>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6" name="Text 4"/>
          <p:cNvSpPr/>
          <p:nvPr/>
        </p:nvSpPr>
        <p:spPr>
          <a:xfrm>
            <a:off x="822960" y="2487168"/>
            <a:ext cx="4572000" cy="274320"/>
          </a:xfrm>
          <a:prstGeom prst="rect">
            <a:avLst/>
          </a:prstGeom>
          <a:noFill/>
          <a:ln/>
        </p:spPr>
        <p:txBody>
          <a:bodyPr wrap="square" lIns="0" tIns="0" rIns="0" bIns="0" rtlCol="0" anchor="ctr"/>
          <a:lstStyle/>
          <a:p>
            <a:pPr indent="0" marL="0">
              <a:buNone/>
            </a:pPr>
            <a:r>
              <a:rPr lang="en-US" sz="1000" b="1" spc="100" kern="0" dirty="0">
                <a:solidFill>
                  <a:srgbClr val="8F9BB3"/>
                </a:solidFill>
                <a:latin typeface="Calibri" pitchFamily="34" charset="0"/>
                <a:ea typeface="Calibri" pitchFamily="34" charset="-122"/>
                <a:cs typeface="Calibri" pitchFamily="34" charset="-120"/>
              </a:rPr>
              <a:t>RAW PART_DESC</a:t>
            </a:r>
            <a:endParaRPr lang="en-US" sz="1000" dirty="0"/>
          </a:p>
        </p:txBody>
      </p:sp>
      <p:sp>
        <p:nvSpPr>
          <p:cNvPr id="7" name="Text 5"/>
          <p:cNvSpPr/>
          <p:nvPr/>
        </p:nvSpPr>
        <p:spPr>
          <a:xfrm>
            <a:off x="822960" y="2788920"/>
            <a:ext cx="4846320" cy="82296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3/8 CPLG BRS 150#</a:t>
            </a:r>
            <a:endParaRPr lang="en-US" sz="1800" dirty="0"/>
          </a:p>
        </p:txBody>
      </p:sp>
      <p:sp>
        <p:nvSpPr>
          <p:cNvPr id="8" name="Shape 6"/>
          <p:cNvSpPr/>
          <p:nvPr/>
        </p:nvSpPr>
        <p:spPr>
          <a:xfrm>
            <a:off x="6172200" y="2331720"/>
            <a:ext cx="5349240" cy="1371600"/>
          </a:xfrm>
          <a:prstGeom prst="roundRect">
            <a:avLst>
              <a:gd name="adj" fmla="val 5333"/>
            </a:avLst>
          </a:prstGeom>
          <a:solidFill>
            <a:srgbClr val="111827"/>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9" name="Text 7"/>
          <p:cNvSpPr/>
          <p:nvPr/>
        </p:nvSpPr>
        <p:spPr>
          <a:xfrm>
            <a:off x="6446520" y="2487168"/>
            <a:ext cx="4572000" cy="274320"/>
          </a:xfrm>
          <a:prstGeom prst="rect">
            <a:avLst/>
          </a:prstGeom>
          <a:noFill/>
          <a:ln/>
        </p:spPr>
        <p:txBody>
          <a:bodyPr wrap="square" lIns="0" tIns="0" rIns="0" bIns="0" rtlCol="0" anchor="ctr"/>
          <a:lstStyle/>
          <a:p>
            <a:pPr indent="0" marL="0">
              <a:buNone/>
            </a:pPr>
            <a:r>
              <a:rPr lang="en-US" sz="1000" b="1" spc="100" kern="0" dirty="0">
                <a:solidFill>
                  <a:srgbClr val="8F9BB3"/>
                </a:solidFill>
                <a:latin typeface="Calibri" pitchFamily="34" charset="0"/>
                <a:ea typeface="Calibri" pitchFamily="34" charset="-122"/>
                <a:cs typeface="Calibri" pitchFamily="34" charset="-120"/>
              </a:rPr>
              <a:t>RAW PART_DESC</a:t>
            </a:r>
            <a:endParaRPr lang="en-US" sz="1000" dirty="0"/>
          </a:p>
        </p:txBody>
      </p:sp>
      <p:sp>
        <p:nvSpPr>
          <p:cNvPr id="10" name="Text 8"/>
          <p:cNvSpPr/>
          <p:nvPr/>
        </p:nvSpPr>
        <p:spPr>
          <a:xfrm>
            <a:off x="6446520" y="2788920"/>
            <a:ext cx="4846320" cy="822960"/>
          </a:xfrm>
          <a:prstGeom prst="rect">
            <a:avLst/>
          </a:prstGeom>
          <a:noFill/>
          <a:ln/>
        </p:spPr>
        <p:txBody>
          <a:bodyPr wrap="square" lIns="0" tIns="0" rIns="0" bIns="0" rtlCol="0" anchor="ctr"/>
          <a:lstStyle/>
          <a:p>
            <a:pPr indent="0" marL="0">
              <a:buNone/>
            </a:pPr>
            <a:r>
              <a:rPr lang="en-US" sz="1800" b="1" dirty="0">
                <a:solidFill>
                  <a:srgbClr val="FFFFFF"/>
                </a:solidFill>
                <a:latin typeface="Courier New" pitchFamily="34" charset="0"/>
                <a:ea typeface="Courier New" pitchFamily="34" charset="-122"/>
                <a:cs typeface="Courier New" pitchFamily="34" charset="-120"/>
              </a:rPr>
              <a:t>PDSH4816AF Dishwasher SS - Display Only</a:t>
            </a:r>
            <a:endParaRPr lang="en-US" sz="1800" dirty="0"/>
          </a:p>
        </p:txBody>
      </p:sp>
      <p:sp>
        <p:nvSpPr>
          <p:cNvPr id="11" name="Text 9"/>
          <p:cNvSpPr/>
          <p:nvPr/>
        </p:nvSpPr>
        <p:spPr>
          <a:xfrm>
            <a:off x="548640" y="3977640"/>
            <a:ext cx="10515600" cy="45720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That's the entire input a buyer, a search index, and a catalog system all have to work with.</a:t>
            </a:r>
            <a:endParaRPr lang="en-US" sz="1400" dirty="0"/>
          </a:p>
        </p:txBody>
      </p:sp>
      <p:sp>
        <p:nvSpPr>
          <p:cNvPr id="12" name="Shape 10"/>
          <p:cNvSpPr/>
          <p:nvPr/>
        </p:nvSpPr>
        <p:spPr>
          <a:xfrm>
            <a:off x="548640" y="4709160"/>
            <a:ext cx="3520440" cy="1417320"/>
          </a:xfrm>
          <a:prstGeom prst="roundRect">
            <a:avLst>
              <a:gd name="adj" fmla="val 5161"/>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3" name="Text 11"/>
          <p:cNvSpPr/>
          <p:nvPr/>
        </p:nvSpPr>
        <p:spPr>
          <a:xfrm>
            <a:off x="685800" y="4818888"/>
            <a:ext cx="3246120" cy="779526"/>
          </a:xfrm>
          <a:prstGeom prst="rect">
            <a:avLst/>
          </a:prstGeom>
          <a:noFill/>
          <a:ln/>
        </p:spPr>
        <p:txBody>
          <a:bodyPr wrap="square" lIns="0" tIns="0" rIns="0" bIns="0" rtlCol="0" anchor="b"/>
          <a:lstStyle/>
          <a:p>
            <a:pPr algn="l" indent="0" marL="0">
              <a:buNone/>
            </a:pPr>
            <a:r>
              <a:rPr lang="en-US" sz="3000" b="1" dirty="0">
                <a:solidFill>
                  <a:srgbClr val="1D5FD6"/>
                </a:solidFill>
                <a:latin typeface="Cambria" pitchFamily="34" charset="0"/>
                <a:ea typeface="Cambria" pitchFamily="34" charset="-122"/>
                <a:cs typeface="Cambria" pitchFamily="34" charset="-120"/>
              </a:rPr>
              <a:t>252</a:t>
            </a:r>
            <a:endParaRPr lang="en-US" sz="3000" dirty="0"/>
          </a:p>
        </p:txBody>
      </p:sp>
      <p:sp>
        <p:nvSpPr>
          <p:cNvPr id="14" name="Text 12"/>
          <p:cNvSpPr/>
          <p:nvPr/>
        </p:nvSpPr>
        <p:spPr>
          <a:xfrm>
            <a:off x="685800" y="5587898"/>
            <a:ext cx="3246120" cy="49606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OFFICIAL OUTPUT COLUMNS EXPECTED</a:t>
            </a:r>
            <a:endParaRPr lang="en-US" sz="950" dirty="0"/>
          </a:p>
        </p:txBody>
      </p:sp>
      <p:sp>
        <p:nvSpPr>
          <p:cNvPr id="15" name="Shape 13"/>
          <p:cNvSpPr/>
          <p:nvPr/>
        </p:nvSpPr>
        <p:spPr>
          <a:xfrm>
            <a:off x="4297680" y="4709160"/>
            <a:ext cx="3520440" cy="1417320"/>
          </a:xfrm>
          <a:prstGeom prst="roundRect">
            <a:avLst>
              <a:gd name="adj" fmla="val 5161"/>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6" name="Text 14"/>
          <p:cNvSpPr/>
          <p:nvPr/>
        </p:nvSpPr>
        <p:spPr>
          <a:xfrm>
            <a:off x="4434840" y="4818888"/>
            <a:ext cx="3246120" cy="779526"/>
          </a:xfrm>
          <a:prstGeom prst="rect">
            <a:avLst/>
          </a:prstGeom>
          <a:noFill/>
          <a:ln/>
        </p:spPr>
        <p:txBody>
          <a:bodyPr wrap="square" lIns="0" tIns="0" rIns="0" bIns="0" rtlCol="0" anchor="b"/>
          <a:lstStyle/>
          <a:p>
            <a:pPr algn="l" indent="0" marL="0">
              <a:buNone/>
            </a:pPr>
            <a:r>
              <a:rPr lang="en-US" sz="3000" b="1" dirty="0">
                <a:solidFill>
                  <a:srgbClr val="1D5FD6"/>
                </a:solidFill>
                <a:latin typeface="Cambria" pitchFamily="34" charset="0"/>
                <a:ea typeface="Cambria" pitchFamily="34" charset="-122"/>
                <a:cs typeface="Cambria" pitchFamily="34" charset="-120"/>
              </a:rPr>
              <a:t>~6</a:t>
            </a:r>
            <a:endParaRPr lang="en-US" sz="3000" dirty="0"/>
          </a:p>
        </p:txBody>
      </p:sp>
      <p:sp>
        <p:nvSpPr>
          <p:cNvPr id="17" name="Text 15"/>
          <p:cNvSpPr/>
          <p:nvPr/>
        </p:nvSpPr>
        <p:spPr>
          <a:xfrm>
            <a:off x="4434840" y="5587898"/>
            <a:ext cx="3246120" cy="49606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SPELLINGS OF ONE MANUFACTURER, TYPICAL</a:t>
            </a:r>
            <a:endParaRPr lang="en-US" sz="950" dirty="0"/>
          </a:p>
        </p:txBody>
      </p:sp>
      <p:sp>
        <p:nvSpPr>
          <p:cNvPr id="18" name="Shape 16"/>
          <p:cNvSpPr/>
          <p:nvPr/>
        </p:nvSpPr>
        <p:spPr>
          <a:xfrm>
            <a:off x="8046720" y="4709160"/>
            <a:ext cx="3520440" cy="1417320"/>
          </a:xfrm>
          <a:prstGeom prst="roundRect">
            <a:avLst>
              <a:gd name="adj" fmla="val 5161"/>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9" name="Text 17"/>
          <p:cNvSpPr/>
          <p:nvPr/>
        </p:nvSpPr>
        <p:spPr>
          <a:xfrm>
            <a:off x="8183880" y="4818888"/>
            <a:ext cx="3246120" cy="779526"/>
          </a:xfrm>
          <a:prstGeom prst="rect">
            <a:avLst/>
          </a:prstGeom>
          <a:noFill/>
          <a:ln/>
        </p:spPr>
        <p:txBody>
          <a:bodyPr wrap="square" lIns="0" tIns="0" rIns="0" bIns="0" rtlCol="0" anchor="b"/>
          <a:lstStyle/>
          <a:p>
            <a:pPr algn="l" indent="0" marL="0">
              <a:buNone/>
            </a:pPr>
            <a:r>
              <a:rPr lang="en-US" sz="3000" b="1" dirty="0">
                <a:solidFill>
                  <a:srgbClr val="1D5FD6"/>
                </a:solidFill>
                <a:latin typeface="Cambria" pitchFamily="34" charset="0"/>
                <a:ea typeface="Cambria" pitchFamily="34" charset="-122"/>
                <a:cs typeface="Cambria" pitchFamily="34" charset="-120"/>
              </a:rPr>
              <a:t>0</a:t>
            </a:r>
            <a:endParaRPr lang="en-US" sz="3000" dirty="0"/>
          </a:p>
        </p:txBody>
      </p:sp>
      <p:sp>
        <p:nvSpPr>
          <p:cNvPr id="20" name="Text 18"/>
          <p:cNvSpPr/>
          <p:nvPr/>
        </p:nvSpPr>
        <p:spPr>
          <a:xfrm>
            <a:off x="8183880" y="5587898"/>
            <a:ext cx="3246120" cy="49606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CONTEXT BEYOND THE RAW STRING</a:t>
            </a:r>
            <a:endParaRPr lang="en-US" sz="950" dirty="0"/>
          </a:p>
        </p:txBody>
      </p:sp>
      <p:sp>
        <p:nvSpPr>
          <p:cNvPr id="21" name="Text 19"/>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02 / 20</a:t>
            </a:r>
            <a:endParaRPr lang="en-US" sz="900" dirty="0"/>
          </a:p>
        </p:txBody>
      </p:sp>
      <p:sp>
        <p:nvSpPr>
          <p:cNvPr id="22" name="Text 20"/>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WHY IT'S HARD</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Real catalog data fights you at every step</a:t>
            </a:r>
            <a:endParaRPr lang="en-US" sz="3000" dirty="0"/>
          </a:p>
        </p:txBody>
      </p:sp>
      <p:sp>
        <p:nvSpPr>
          <p:cNvPr id="4" name="Shape 2"/>
          <p:cNvSpPr/>
          <p:nvPr/>
        </p:nvSpPr>
        <p:spPr>
          <a:xfrm>
            <a:off x="548640" y="1600200"/>
            <a:ext cx="5349240" cy="1965960"/>
          </a:xfrm>
          <a:prstGeom prst="roundRect">
            <a:avLst>
              <a:gd name="adj" fmla="val 3721"/>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804672" y="1783080"/>
            <a:ext cx="4837176" cy="41148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Cryptic abbreviations</a:t>
            </a:r>
            <a:endParaRPr lang="en-US" sz="1550" dirty="0"/>
          </a:p>
        </p:txBody>
      </p:sp>
      <p:sp>
        <p:nvSpPr>
          <p:cNvPr id="6" name="Text 4"/>
          <p:cNvSpPr/>
          <p:nvPr/>
        </p:nvSpPr>
        <p:spPr>
          <a:xfrm>
            <a:off x="804672" y="2221992"/>
            <a:ext cx="4837176" cy="1188720"/>
          </a:xfrm>
          <a:prstGeom prst="rect">
            <a:avLst/>
          </a:prstGeom>
          <a:noFill/>
          <a:ln/>
        </p:spPr>
        <p:txBody>
          <a:bodyPr wrap="square" lIns="0" tIns="0" rIns="0" bIns="0" rtlCol="0" anchor="ctr"/>
          <a:lstStyle/>
          <a:p>
            <a:pPr indent="0" marL="0">
              <a:lnSpc>
                <a:spcPct val="125000"/>
              </a:lnSpc>
              <a:buNone/>
            </a:pPr>
            <a:r>
              <a:rPr lang="en-US" sz="1250" dirty="0">
                <a:solidFill>
                  <a:srgbClr val="5B6472"/>
                </a:solidFill>
                <a:latin typeface="Calibri" pitchFamily="34" charset="0"/>
                <a:ea typeface="Calibri" pitchFamily="34" charset="-122"/>
                <a:cs typeface="Calibri" pitchFamily="34" charset="-120"/>
              </a:rPr>
              <a:t>"3/8 CPLG BRS 150#" packs thread size, fitting type, material, and pressure class into 17 characters — with zero delimiters.</a:t>
            </a:r>
            <a:endParaRPr lang="en-US" sz="1250" dirty="0"/>
          </a:p>
        </p:txBody>
      </p:sp>
      <p:sp>
        <p:nvSpPr>
          <p:cNvPr id="7" name="Shape 5"/>
          <p:cNvSpPr/>
          <p:nvPr/>
        </p:nvSpPr>
        <p:spPr>
          <a:xfrm>
            <a:off x="6263640" y="1600200"/>
            <a:ext cx="5349240" cy="1965960"/>
          </a:xfrm>
          <a:prstGeom prst="roundRect">
            <a:avLst>
              <a:gd name="adj" fmla="val 3721"/>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8" name="Text 6"/>
          <p:cNvSpPr/>
          <p:nvPr/>
        </p:nvSpPr>
        <p:spPr>
          <a:xfrm>
            <a:off x="6519672" y="1783080"/>
            <a:ext cx="4837176" cy="41148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Inconsistent manufacturers</a:t>
            </a:r>
            <a:endParaRPr lang="en-US" sz="1550" dirty="0"/>
          </a:p>
        </p:txBody>
      </p:sp>
      <p:sp>
        <p:nvSpPr>
          <p:cNvPr id="9" name="Text 7"/>
          <p:cNvSpPr/>
          <p:nvPr/>
        </p:nvSpPr>
        <p:spPr>
          <a:xfrm>
            <a:off x="6519672" y="2221992"/>
            <a:ext cx="4837176" cy="1188720"/>
          </a:xfrm>
          <a:prstGeom prst="rect">
            <a:avLst/>
          </a:prstGeom>
          <a:noFill/>
          <a:ln/>
        </p:spPr>
        <p:txBody>
          <a:bodyPr wrap="square" lIns="0" tIns="0" rIns="0" bIns="0" rtlCol="0" anchor="ctr"/>
          <a:lstStyle/>
          <a:p>
            <a:pPr indent="0" marL="0">
              <a:lnSpc>
                <a:spcPct val="125000"/>
              </a:lnSpc>
              <a:buNone/>
            </a:pPr>
            <a:r>
              <a:rPr lang="en-US" sz="1250" dirty="0">
                <a:solidFill>
                  <a:srgbClr val="5B6472"/>
                </a:solidFill>
                <a:latin typeface="Calibri" pitchFamily="34" charset="0"/>
                <a:ea typeface="Calibri" pitchFamily="34" charset="-122"/>
                <a:cs typeface="Calibri" pitchFamily="34" charset="-120"/>
              </a:rPr>
              <a:t>The same OEM shows up as a distributor code, a co-op name, or a bare product-description token — never a clean field.</a:t>
            </a:r>
            <a:endParaRPr lang="en-US" sz="1250" dirty="0"/>
          </a:p>
        </p:txBody>
      </p:sp>
      <p:sp>
        <p:nvSpPr>
          <p:cNvPr id="10" name="Shape 8"/>
          <p:cNvSpPr/>
          <p:nvPr/>
        </p:nvSpPr>
        <p:spPr>
          <a:xfrm>
            <a:off x="548640" y="3840480"/>
            <a:ext cx="5349240" cy="1965960"/>
          </a:xfrm>
          <a:prstGeom prst="roundRect">
            <a:avLst>
              <a:gd name="adj" fmla="val 3721"/>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1" name="Text 9"/>
          <p:cNvSpPr/>
          <p:nvPr/>
        </p:nvSpPr>
        <p:spPr>
          <a:xfrm>
            <a:off x="804672" y="4023360"/>
            <a:ext cx="4837176" cy="41148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Five ways to write a unit</a:t>
            </a:r>
            <a:endParaRPr lang="en-US" sz="1550" dirty="0"/>
          </a:p>
        </p:txBody>
      </p:sp>
      <p:sp>
        <p:nvSpPr>
          <p:cNvPr id="12" name="Text 10"/>
          <p:cNvSpPr/>
          <p:nvPr/>
        </p:nvSpPr>
        <p:spPr>
          <a:xfrm>
            <a:off x="804672" y="4462272"/>
            <a:ext cx="4837176" cy="1188720"/>
          </a:xfrm>
          <a:prstGeom prst="rect">
            <a:avLst/>
          </a:prstGeom>
          <a:noFill/>
          <a:ln/>
        </p:spPr>
        <p:txBody>
          <a:bodyPr wrap="square" lIns="0" tIns="0" rIns="0" bIns="0" rtlCol="0" anchor="ctr"/>
          <a:lstStyle/>
          <a:p>
            <a:pPr indent="0" marL="0">
              <a:lnSpc>
                <a:spcPct val="125000"/>
              </a:lnSpc>
              <a:buNone/>
            </a:pPr>
            <a:r>
              <a:rPr lang="en-US" sz="1250" dirty="0">
                <a:solidFill>
                  <a:srgbClr val="5B6472"/>
                </a:solidFill>
                <a:latin typeface="Calibri" pitchFamily="34" charset="0"/>
                <a:ea typeface="Calibri" pitchFamily="34" charset="-122"/>
                <a:cs typeface="Calibri" pitchFamily="34" charset="-120"/>
              </a:rPr>
              <a:t>"inches", "IN.", "in", '"', "inch" all mean the same thing — and none of them are the approved abbreviation.</a:t>
            </a:r>
            <a:endParaRPr lang="en-US" sz="1250" dirty="0"/>
          </a:p>
        </p:txBody>
      </p:sp>
      <p:sp>
        <p:nvSpPr>
          <p:cNvPr id="13" name="Shape 11"/>
          <p:cNvSpPr/>
          <p:nvPr/>
        </p:nvSpPr>
        <p:spPr>
          <a:xfrm>
            <a:off x="6263640" y="3840480"/>
            <a:ext cx="5349240" cy="1965960"/>
          </a:xfrm>
          <a:prstGeom prst="roundRect">
            <a:avLst>
              <a:gd name="adj" fmla="val 3721"/>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4" name="Text 12"/>
          <p:cNvSpPr/>
          <p:nvPr/>
        </p:nvSpPr>
        <p:spPr>
          <a:xfrm>
            <a:off x="6519672" y="4023360"/>
            <a:ext cx="4837176" cy="41148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Placeholders masquerading as data</a:t>
            </a:r>
            <a:endParaRPr lang="en-US" sz="1550" dirty="0"/>
          </a:p>
        </p:txBody>
      </p:sp>
      <p:sp>
        <p:nvSpPr>
          <p:cNvPr id="15" name="Text 13"/>
          <p:cNvSpPr/>
          <p:nvPr/>
        </p:nvSpPr>
        <p:spPr>
          <a:xfrm>
            <a:off x="6519672" y="4462272"/>
            <a:ext cx="4837176" cy="1188720"/>
          </a:xfrm>
          <a:prstGeom prst="rect">
            <a:avLst/>
          </a:prstGeom>
          <a:noFill/>
          <a:ln/>
        </p:spPr>
        <p:txBody>
          <a:bodyPr wrap="square" lIns="0" tIns="0" rIns="0" bIns="0" rtlCol="0" anchor="ctr"/>
          <a:lstStyle/>
          <a:p>
            <a:pPr indent="0" marL="0">
              <a:lnSpc>
                <a:spcPct val="125000"/>
              </a:lnSpc>
              <a:buNone/>
            </a:pPr>
            <a:r>
              <a:rPr lang="en-US" sz="1250" dirty="0">
                <a:solidFill>
                  <a:srgbClr val="5B6472"/>
                </a:solidFill>
                <a:latin typeface="Calibri" pitchFamily="34" charset="0"/>
                <a:ea typeface="Calibri" pitchFamily="34" charset="-122"/>
                <a:cs typeface="Calibri" pitchFamily="34" charset="-120"/>
              </a:rPr>
              <a:t>"-- Unbranded --", "-- No Unilog Brand --" look like values but mean nothing — and 80%+ of brand fields in the sample are exactly this.</a:t>
            </a:r>
            <a:endParaRPr lang="en-US" sz="1250" dirty="0"/>
          </a:p>
        </p:txBody>
      </p:sp>
      <p:sp>
        <p:nvSpPr>
          <p:cNvPr id="16" name="Text 14"/>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03 / 20</a:t>
            </a:r>
            <a:endParaRPr lang="en-US" sz="900" dirty="0"/>
          </a:p>
        </p:txBody>
      </p:sp>
      <p:sp>
        <p:nvSpPr>
          <p:cNvPr id="17" name="Text 15"/>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WHY NAIVE LLM GENERATION FAILS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"Just ask an LLM for all 252 columns" doesn't work</a:t>
            </a:r>
            <a:endParaRPr lang="en-US" sz="3000" dirty="0"/>
          </a:p>
        </p:txBody>
      </p:sp>
      <p:sp>
        <p:nvSpPr>
          <p:cNvPr id="4" name="Shape 2"/>
          <p:cNvSpPr/>
          <p:nvPr/>
        </p:nvSpPr>
        <p:spPr>
          <a:xfrm>
            <a:off x="548640" y="1691640"/>
            <a:ext cx="5212080" cy="4297680"/>
          </a:xfrm>
          <a:prstGeom prst="roundRect">
            <a:avLst>
              <a:gd name="adj" fmla="val 1702"/>
            </a:avLst>
          </a:prstGeom>
          <a:solidFill>
            <a:srgbClr val="FDEAEA"/>
          </a:solidFill>
          <a:ln w="12700">
            <a:solidFill>
              <a:srgbClr val="F3C6C6"/>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822960" y="1920240"/>
            <a:ext cx="4572000" cy="274320"/>
          </a:xfrm>
          <a:prstGeom prst="rect">
            <a:avLst/>
          </a:prstGeom>
          <a:noFill/>
          <a:ln/>
        </p:spPr>
        <p:txBody>
          <a:bodyPr wrap="square" lIns="0" tIns="0" rIns="0" bIns="0" rtlCol="0" anchor="ctr"/>
          <a:lstStyle/>
          <a:p>
            <a:pPr indent="0" marL="0">
              <a:buNone/>
            </a:pPr>
            <a:r>
              <a:rPr lang="en-US" sz="1100" b="1" spc="100" kern="0" dirty="0">
                <a:solidFill>
                  <a:srgbClr val="C22B2B"/>
                </a:solidFill>
                <a:latin typeface="Calibri" pitchFamily="34" charset="0"/>
                <a:ea typeface="Calibri" pitchFamily="34" charset="-122"/>
                <a:cs typeface="Calibri" pitchFamily="34" charset="-120"/>
              </a:rPr>
              <a:t>THE NAIVE APPROACH</a:t>
            </a:r>
            <a:endParaRPr lang="en-US" sz="1100" dirty="0"/>
          </a:p>
        </p:txBody>
      </p:sp>
      <p:sp>
        <p:nvSpPr>
          <p:cNvPr id="6" name="Text 4"/>
          <p:cNvSpPr/>
          <p:nvPr/>
        </p:nvSpPr>
        <p:spPr>
          <a:xfrm>
            <a:off x="822960" y="2286000"/>
            <a:ext cx="4663440" cy="548640"/>
          </a:xfrm>
          <a:prstGeom prst="rect">
            <a:avLst/>
          </a:prstGeom>
          <a:noFill/>
          <a:ln/>
        </p:spPr>
        <p:txBody>
          <a:bodyPr wrap="square" lIns="0" tIns="0" rIns="0" bIns="0" rtlCol="0" anchor="ctr"/>
          <a:lstStyle/>
          <a:p>
            <a:pPr indent="0" marL="0">
              <a:buNone/>
            </a:pPr>
            <a:r>
              <a:rPr lang="en-US" sz="1300" b="1" dirty="0">
                <a:solidFill>
                  <a:srgbClr val="111827"/>
                </a:solidFill>
                <a:latin typeface="Courier New" pitchFamily="34" charset="0"/>
                <a:ea typeface="Courier New" pitchFamily="34" charset="-122"/>
                <a:cs typeface="Courier New" pitchFamily="34" charset="-120"/>
              </a:rPr>
              <a:t>Raw input  →  one giant prompt  →  252 columns</a:t>
            </a:r>
            <a:endParaRPr lang="en-US" sz="1300" dirty="0"/>
          </a:p>
        </p:txBody>
      </p:sp>
      <p:sp>
        <p:nvSpPr>
          <p:cNvPr id="7" name="Text 5"/>
          <p:cNvSpPr/>
          <p:nvPr/>
        </p:nvSpPr>
        <p:spPr>
          <a:xfrm>
            <a:off x="822960" y="2971800"/>
            <a:ext cx="4709160" cy="283464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Invents plausible voltage, wash-cycle, and dimension values that simply aren't in the input</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No way to tell a grounded fact from a fluent guess</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Can't be constrained to an approved manufacturer/brand or vocabulary list</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No confidence signal beyond the model's own (unreliable) self-report</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Doesn't know what it doesn't know</a:t>
            </a:r>
            <a:endParaRPr lang="en-US" sz="1300" dirty="0"/>
          </a:p>
        </p:txBody>
      </p:sp>
      <p:sp>
        <p:nvSpPr>
          <p:cNvPr id="8" name="Shape 6"/>
          <p:cNvSpPr/>
          <p:nvPr/>
        </p:nvSpPr>
        <p:spPr>
          <a:xfrm>
            <a:off x="5989320" y="1691640"/>
            <a:ext cx="5623560" cy="4297680"/>
          </a:xfrm>
          <a:prstGeom prst="roundRect">
            <a:avLst>
              <a:gd name="adj" fmla="val 1702"/>
            </a:avLst>
          </a:prstGeom>
          <a:solidFill>
            <a:srgbClr val="E6F6EF"/>
          </a:solidFill>
          <a:ln w="12700">
            <a:solidFill>
              <a:srgbClr val="BEE6D4"/>
            </a:solidFill>
            <a:prstDash val="solid"/>
          </a:ln>
          <a:effectLst>
            <a:outerShdw sx="100000" sy="100000" kx="0" ky="0" algn="bl" rotWithShape="0" blurRad="76200" dist="25400" dir="5400000">
              <a:srgbClr val="1A2233">
                <a:alpha val="8000"/>
              </a:srgbClr>
            </a:outerShdw>
          </a:effectLst>
        </p:spPr>
      </p:sp>
      <p:sp>
        <p:nvSpPr>
          <p:cNvPr id="9" name="Text 7"/>
          <p:cNvSpPr/>
          <p:nvPr/>
        </p:nvSpPr>
        <p:spPr>
          <a:xfrm>
            <a:off x="6263640" y="1920240"/>
            <a:ext cx="4572000" cy="274320"/>
          </a:xfrm>
          <a:prstGeom prst="rect">
            <a:avLst/>
          </a:prstGeom>
          <a:noFill/>
          <a:ln/>
        </p:spPr>
        <p:txBody>
          <a:bodyPr wrap="square" lIns="0" tIns="0" rIns="0" bIns="0" rtlCol="0" anchor="ctr"/>
          <a:lstStyle/>
          <a:p>
            <a:pPr indent="0" marL="0">
              <a:buNone/>
            </a:pPr>
            <a:r>
              <a:rPr lang="en-US" sz="1100" b="1" spc="100" kern="0" dirty="0">
                <a:solidFill>
                  <a:srgbClr val="12805C"/>
                </a:solidFill>
                <a:latin typeface="Calibri" pitchFamily="34" charset="0"/>
                <a:ea typeface="Calibri" pitchFamily="34" charset="-122"/>
                <a:cs typeface="Calibri" pitchFamily="34" charset="-120"/>
              </a:rPr>
              <a:t>THIS SYSTEM</a:t>
            </a:r>
            <a:endParaRPr lang="en-US" sz="1100" dirty="0"/>
          </a:p>
        </p:txBody>
      </p:sp>
      <p:sp>
        <p:nvSpPr>
          <p:cNvPr id="10" name="Text 8"/>
          <p:cNvSpPr/>
          <p:nvPr/>
        </p:nvSpPr>
        <p:spPr>
          <a:xfrm>
            <a:off x="6263640" y="2286000"/>
            <a:ext cx="5120640" cy="548640"/>
          </a:xfrm>
          <a:prstGeom prst="rect">
            <a:avLst/>
          </a:prstGeom>
          <a:noFill/>
          <a:ln/>
        </p:spPr>
        <p:txBody>
          <a:bodyPr wrap="square" lIns="0" tIns="0" rIns="0" bIns="0" rtlCol="0" anchor="ctr"/>
          <a:lstStyle/>
          <a:p>
            <a:pPr indent="0" marL="0">
              <a:buNone/>
            </a:pPr>
            <a:r>
              <a:rPr lang="en-US" sz="1300" b="1" dirty="0">
                <a:solidFill>
                  <a:srgbClr val="111827"/>
                </a:solidFill>
                <a:latin typeface="Courier New" pitchFamily="34" charset="0"/>
                <a:ea typeface="Courier New" pitchFamily="34" charset="-122"/>
                <a:cs typeface="Courier New" pitchFamily="34" charset="-120"/>
              </a:rPr>
              <a:t>Raw input  →  grounded facts  →  rendered output</a:t>
            </a:r>
            <a:endParaRPr lang="en-US" sz="1300" dirty="0"/>
          </a:p>
        </p:txBody>
      </p:sp>
      <p:sp>
        <p:nvSpPr>
          <p:cNvPr id="11" name="Text 9"/>
          <p:cNvSpPr/>
          <p:nvPr/>
        </p:nvSpPr>
        <p:spPr>
          <a:xfrm>
            <a:off x="6263640" y="2971800"/>
            <a:ext cx="5120640" cy="283464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Every fact is a Claim with a provenance type (DIRECT/NORMALIZED/DERIVED/INFERRED) or it's UNKNOWN — never invented</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Manufacturer/brand/attribute values are selected from master data, not generated</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Confidence is computed from real signals: match method, source authority, validation results</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Uncertainty routes to a human review queue with a stated reason — not silence</a:t>
            </a:r>
            <a:endParaRPr lang="en-US" sz="1300" dirty="0"/>
          </a:p>
        </p:txBody>
      </p:sp>
      <p:sp>
        <p:nvSpPr>
          <p:cNvPr id="12" name="Text 10"/>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04 / 20</a:t>
            </a:r>
            <a:endParaRPr lang="en-US" sz="900" dirty="0"/>
          </a:p>
        </p:txBody>
      </p:sp>
      <p:sp>
        <p:nvSpPr>
          <p:cNvPr id="13" name="Text 11"/>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An AI Product Data Compiler — not a chatbot</a:t>
            </a:r>
            <a:endParaRPr lang="en-US" sz="3000" dirty="0"/>
          </a:p>
        </p:txBody>
      </p:sp>
      <p:sp>
        <p:nvSpPr>
          <p:cNvPr id="4" name="Text 2"/>
          <p:cNvSpPr/>
          <p:nvPr/>
        </p:nvSpPr>
        <p:spPr>
          <a:xfrm>
            <a:off x="548640" y="1508760"/>
            <a:ext cx="10789920" cy="4572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Twelve deterministic + AI stages turn a raw row into a validated, evidenced, commerce-ready record.</a:t>
            </a:r>
            <a:endParaRPr lang="en-US" sz="1400" dirty="0"/>
          </a:p>
        </p:txBody>
      </p:sp>
      <p:sp>
        <p:nvSpPr>
          <p:cNvPr id="5" name="Shape 3"/>
          <p:cNvSpPr/>
          <p:nvPr/>
        </p:nvSpPr>
        <p:spPr>
          <a:xfrm>
            <a:off x="425196" y="2651760"/>
            <a:ext cx="1783080" cy="777240"/>
          </a:xfrm>
          <a:prstGeom prst="roundRect">
            <a:avLst>
              <a:gd name="adj" fmla="val 7059"/>
            </a:avLst>
          </a:prstGeom>
          <a:solidFill>
            <a:srgbClr val="FFFFFF"/>
          </a:solidFill>
          <a:ln w="15875">
            <a:solidFill>
              <a:srgbClr val="E2E6EC"/>
            </a:solidFill>
            <a:prstDash val="solid"/>
          </a:ln>
        </p:spPr>
      </p:sp>
      <p:sp>
        <p:nvSpPr>
          <p:cNvPr id="6" name="Text 4"/>
          <p:cNvSpPr/>
          <p:nvPr/>
        </p:nvSpPr>
        <p:spPr>
          <a:xfrm>
            <a:off x="425196" y="265176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Raw Product</a:t>
            </a:r>
            <a:endParaRPr lang="en-US" sz="1050" dirty="0"/>
          </a:p>
        </p:txBody>
      </p:sp>
      <p:sp>
        <p:nvSpPr>
          <p:cNvPr id="7" name="Text 5"/>
          <p:cNvSpPr/>
          <p:nvPr/>
        </p:nvSpPr>
        <p:spPr>
          <a:xfrm>
            <a:off x="2208276" y="265176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8" name="Shape 6"/>
          <p:cNvSpPr/>
          <p:nvPr/>
        </p:nvSpPr>
        <p:spPr>
          <a:xfrm>
            <a:off x="2336292" y="2651760"/>
            <a:ext cx="1783080" cy="777240"/>
          </a:xfrm>
          <a:prstGeom prst="roundRect">
            <a:avLst>
              <a:gd name="adj" fmla="val 7059"/>
            </a:avLst>
          </a:prstGeom>
          <a:solidFill>
            <a:srgbClr val="FFFFFF"/>
          </a:solidFill>
          <a:ln w="15875">
            <a:solidFill>
              <a:srgbClr val="E2E6EC"/>
            </a:solidFill>
            <a:prstDash val="solid"/>
          </a:ln>
        </p:spPr>
      </p:sp>
      <p:sp>
        <p:nvSpPr>
          <p:cNvPr id="9" name="Text 7"/>
          <p:cNvSpPr/>
          <p:nvPr/>
        </p:nvSpPr>
        <p:spPr>
          <a:xfrm>
            <a:off x="2336292" y="265176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Profile / Clean</a:t>
            </a:r>
            <a:endParaRPr lang="en-US" sz="1050" dirty="0"/>
          </a:p>
        </p:txBody>
      </p:sp>
      <p:sp>
        <p:nvSpPr>
          <p:cNvPr id="10" name="Text 8"/>
          <p:cNvSpPr/>
          <p:nvPr/>
        </p:nvSpPr>
        <p:spPr>
          <a:xfrm>
            <a:off x="4119372" y="265176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1" name="Shape 9"/>
          <p:cNvSpPr/>
          <p:nvPr/>
        </p:nvSpPr>
        <p:spPr>
          <a:xfrm>
            <a:off x="4247388" y="2651760"/>
            <a:ext cx="1783080" cy="777240"/>
          </a:xfrm>
          <a:prstGeom prst="roundRect">
            <a:avLst>
              <a:gd name="adj" fmla="val 7059"/>
            </a:avLst>
          </a:prstGeom>
          <a:solidFill>
            <a:srgbClr val="FFFFFF"/>
          </a:solidFill>
          <a:ln w="15875">
            <a:solidFill>
              <a:srgbClr val="E2E6EC"/>
            </a:solidFill>
            <a:prstDash val="solid"/>
          </a:ln>
        </p:spPr>
      </p:sp>
      <p:sp>
        <p:nvSpPr>
          <p:cNvPr id="12" name="Text 10"/>
          <p:cNvSpPr/>
          <p:nvPr/>
        </p:nvSpPr>
        <p:spPr>
          <a:xfrm>
            <a:off x="4247388" y="265176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Entity Resolution</a:t>
            </a:r>
            <a:endParaRPr lang="en-US" sz="1050" dirty="0"/>
          </a:p>
        </p:txBody>
      </p:sp>
      <p:sp>
        <p:nvSpPr>
          <p:cNvPr id="13" name="Text 11"/>
          <p:cNvSpPr/>
          <p:nvPr/>
        </p:nvSpPr>
        <p:spPr>
          <a:xfrm>
            <a:off x="6030468" y="265176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4" name="Shape 12"/>
          <p:cNvSpPr/>
          <p:nvPr/>
        </p:nvSpPr>
        <p:spPr>
          <a:xfrm>
            <a:off x="6158484" y="2651760"/>
            <a:ext cx="1783080" cy="777240"/>
          </a:xfrm>
          <a:prstGeom prst="roundRect">
            <a:avLst>
              <a:gd name="adj" fmla="val 7059"/>
            </a:avLst>
          </a:prstGeom>
          <a:solidFill>
            <a:srgbClr val="FFFFFF"/>
          </a:solidFill>
          <a:ln w="15875">
            <a:solidFill>
              <a:srgbClr val="E2E6EC"/>
            </a:solidFill>
            <a:prstDash val="solid"/>
          </a:ln>
        </p:spPr>
      </p:sp>
      <p:sp>
        <p:nvSpPr>
          <p:cNvPr id="15" name="Text 13"/>
          <p:cNvSpPr/>
          <p:nvPr/>
        </p:nvSpPr>
        <p:spPr>
          <a:xfrm>
            <a:off x="6158484" y="265176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Classify</a:t>
            </a:r>
            <a:endParaRPr lang="en-US" sz="1050" dirty="0"/>
          </a:p>
        </p:txBody>
      </p:sp>
      <p:sp>
        <p:nvSpPr>
          <p:cNvPr id="16" name="Text 14"/>
          <p:cNvSpPr/>
          <p:nvPr/>
        </p:nvSpPr>
        <p:spPr>
          <a:xfrm>
            <a:off x="7941564" y="265176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7" name="Shape 15"/>
          <p:cNvSpPr/>
          <p:nvPr/>
        </p:nvSpPr>
        <p:spPr>
          <a:xfrm>
            <a:off x="8069580" y="2651760"/>
            <a:ext cx="1783080" cy="777240"/>
          </a:xfrm>
          <a:prstGeom prst="roundRect">
            <a:avLst>
              <a:gd name="adj" fmla="val 7059"/>
            </a:avLst>
          </a:prstGeom>
          <a:solidFill>
            <a:srgbClr val="FFFFFF"/>
          </a:solidFill>
          <a:ln w="15875">
            <a:solidFill>
              <a:srgbClr val="E2E6EC"/>
            </a:solidFill>
            <a:prstDash val="solid"/>
          </a:ln>
        </p:spPr>
      </p:sp>
      <p:sp>
        <p:nvSpPr>
          <p:cNvPr id="18" name="Text 16"/>
          <p:cNvSpPr/>
          <p:nvPr/>
        </p:nvSpPr>
        <p:spPr>
          <a:xfrm>
            <a:off x="8069580" y="265176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Extract</a:t>
            </a:r>
            <a:endParaRPr lang="en-US" sz="1050" dirty="0"/>
          </a:p>
        </p:txBody>
      </p:sp>
      <p:sp>
        <p:nvSpPr>
          <p:cNvPr id="19" name="Text 17"/>
          <p:cNvSpPr/>
          <p:nvPr/>
        </p:nvSpPr>
        <p:spPr>
          <a:xfrm>
            <a:off x="9852660" y="265176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20" name="Shape 18"/>
          <p:cNvSpPr/>
          <p:nvPr/>
        </p:nvSpPr>
        <p:spPr>
          <a:xfrm>
            <a:off x="9980676" y="2651760"/>
            <a:ext cx="1783080" cy="777240"/>
          </a:xfrm>
          <a:prstGeom prst="roundRect">
            <a:avLst>
              <a:gd name="adj" fmla="val 7059"/>
            </a:avLst>
          </a:prstGeom>
          <a:solidFill>
            <a:srgbClr val="FFFFFF"/>
          </a:solidFill>
          <a:ln w="15875">
            <a:solidFill>
              <a:srgbClr val="E2E6EC"/>
            </a:solidFill>
            <a:prstDash val="solid"/>
          </a:ln>
        </p:spPr>
      </p:sp>
      <p:sp>
        <p:nvSpPr>
          <p:cNvPr id="21" name="Text 19"/>
          <p:cNvSpPr/>
          <p:nvPr/>
        </p:nvSpPr>
        <p:spPr>
          <a:xfrm>
            <a:off x="9980676" y="265176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Normalize</a:t>
            </a:r>
            <a:endParaRPr lang="en-US" sz="1050" dirty="0"/>
          </a:p>
        </p:txBody>
      </p:sp>
      <p:sp>
        <p:nvSpPr>
          <p:cNvPr id="22" name="Shape 20"/>
          <p:cNvSpPr/>
          <p:nvPr/>
        </p:nvSpPr>
        <p:spPr>
          <a:xfrm>
            <a:off x="425196" y="3840480"/>
            <a:ext cx="1783080" cy="777240"/>
          </a:xfrm>
          <a:prstGeom prst="roundRect">
            <a:avLst>
              <a:gd name="adj" fmla="val 7059"/>
            </a:avLst>
          </a:prstGeom>
          <a:solidFill>
            <a:srgbClr val="FFFFFF"/>
          </a:solidFill>
          <a:ln w="15875">
            <a:solidFill>
              <a:srgbClr val="E2E6EC"/>
            </a:solidFill>
            <a:prstDash val="solid"/>
          </a:ln>
        </p:spPr>
      </p:sp>
      <p:sp>
        <p:nvSpPr>
          <p:cNvPr id="23" name="Text 21"/>
          <p:cNvSpPr/>
          <p:nvPr/>
        </p:nvSpPr>
        <p:spPr>
          <a:xfrm>
            <a:off x="425196" y="384048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Generate</a:t>
            </a:r>
            <a:endParaRPr lang="en-US" sz="1050" dirty="0"/>
          </a:p>
        </p:txBody>
      </p:sp>
      <p:sp>
        <p:nvSpPr>
          <p:cNvPr id="24" name="Text 22"/>
          <p:cNvSpPr/>
          <p:nvPr/>
        </p:nvSpPr>
        <p:spPr>
          <a:xfrm>
            <a:off x="2208276" y="384048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25" name="Shape 23"/>
          <p:cNvSpPr/>
          <p:nvPr/>
        </p:nvSpPr>
        <p:spPr>
          <a:xfrm>
            <a:off x="2336292" y="3840480"/>
            <a:ext cx="1783080" cy="777240"/>
          </a:xfrm>
          <a:prstGeom prst="roundRect">
            <a:avLst>
              <a:gd name="adj" fmla="val 7059"/>
            </a:avLst>
          </a:prstGeom>
          <a:solidFill>
            <a:srgbClr val="FFFFFF"/>
          </a:solidFill>
          <a:ln w="15875">
            <a:solidFill>
              <a:srgbClr val="E2E6EC"/>
            </a:solidFill>
            <a:prstDash val="solid"/>
          </a:ln>
        </p:spPr>
      </p:sp>
      <p:sp>
        <p:nvSpPr>
          <p:cNvPr id="26" name="Text 24"/>
          <p:cNvSpPr/>
          <p:nvPr/>
        </p:nvSpPr>
        <p:spPr>
          <a:xfrm>
            <a:off x="2336292" y="384048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Validate</a:t>
            </a:r>
            <a:endParaRPr lang="en-US" sz="1050" dirty="0"/>
          </a:p>
        </p:txBody>
      </p:sp>
      <p:sp>
        <p:nvSpPr>
          <p:cNvPr id="27" name="Text 25"/>
          <p:cNvSpPr/>
          <p:nvPr/>
        </p:nvSpPr>
        <p:spPr>
          <a:xfrm>
            <a:off x="4119372" y="384048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28" name="Shape 26"/>
          <p:cNvSpPr/>
          <p:nvPr/>
        </p:nvSpPr>
        <p:spPr>
          <a:xfrm>
            <a:off x="4247388" y="3840480"/>
            <a:ext cx="1783080" cy="777240"/>
          </a:xfrm>
          <a:prstGeom prst="roundRect">
            <a:avLst>
              <a:gd name="adj" fmla="val 7059"/>
            </a:avLst>
          </a:prstGeom>
          <a:solidFill>
            <a:srgbClr val="FFFFFF"/>
          </a:solidFill>
          <a:ln w="15875">
            <a:solidFill>
              <a:srgbClr val="E2E6EC"/>
            </a:solidFill>
            <a:prstDash val="solid"/>
          </a:ln>
        </p:spPr>
      </p:sp>
      <p:sp>
        <p:nvSpPr>
          <p:cNvPr id="29" name="Text 27"/>
          <p:cNvSpPr/>
          <p:nvPr/>
        </p:nvSpPr>
        <p:spPr>
          <a:xfrm>
            <a:off x="4247388" y="384048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Score</a:t>
            </a:r>
            <a:endParaRPr lang="en-US" sz="1050" dirty="0"/>
          </a:p>
        </p:txBody>
      </p:sp>
      <p:sp>
        <p:nvSpPr>
          <p:cNvPr id="30" name="Text 28"/>
          <p:cNvSpPr/>
          <p:nvPr/>
        </p:nvSpPr>
        <p:spPr>
          <a:xfrm>
            <a:off x="6030468" y="384048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31" name="Shape 29"/>
          <p:cNvSpPr/>
          <p:nvPr/>
        </p:nvSpPr>
        <p:spPr>
          <a:xfrm>
            <a:off x="6158484" y="3840480"/>
            <a:ext cx="1783080" cy="777240"/>
          </a:xfrm>
          <a:prstGeom prst="roundRect">
            <a:avLst>
              <a:gd name="adj" fmla="val 7059"/>
            </a:avLst>
          </a:prstGeom>
          <a:solidFill>
            <a:srgbClr val="FFFFFF"/>
          </a:solidFill>
          <a:ln w="15875">
            <a:solidFill>
              <a:srgbClr val="E2E6EC"/>
            </a:solidFill>
            <a:prstDash val="solid"/>
          </a:ln>
        </p:spPr>
      </p:sp>
      <p:sp>
        <p:nvSpPr>
          <p:cNvPr id="32" name="Text 30"/>
          <p:cNvSpPr/>
          <p:nvPr/>
        </p:nvSpPr>
        <p:spPr>
          <a:xfrm>
            <a:off x="6158484" y="3840480"/>
            <a:ext cx="1783080" cy="77724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Review</a:t>
            </a:r>
            <a:endParaRPr lang="en-US" sz="1050" dirty="0"/>
          </a:p>
        </p:txBody>
      </p:sp>
      <p:sp>
        <p:nvSpPr>
          <p:cNvPr id="33" name="Text 31"/>
          <p:cNvSpPr/>
          <p:nvPr/>
        </p:nvSpPr>
        <p:spPr>
          <a:xfrm>
            <a:off x="7941564" y="3840480"/>
            <a:ext cx="128016" cy="77724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34" name="Shape 32"/>
          <p:cNvSpPr/>
          <p:nvPr/>
        </p:nvSpPr>
        <p:spPr>
          <a:xfrm>
            <a:off x="8069580" y="3840480"/>
            <a:ext cx="1783080" cy="777240"/>
          </a:xfrm>
          <a:prstGeom prst="roundRect">
            <a:avLst>
              <a:gd name="adj" fmla="val 7059"/>
            </a:avLst>
          </a:prstGeom>
          <a:solidFill>
            <a:srgbClr val="1D5FD6"/>
          </a:solidFill>
          <a:ln w="15875">
            <a:solidFill>
              <a:srgbClr val="1D5FD6"/>
            </a:solidFill>
            <a:prstDash val="solid"/>
          </a:ln>
        </p:spPr>
      </p:sp>
      <p:sp>
        <p:nvSpPr>
          <p:cNvPr id="35" name="Text 33"/>
          <p:cNvSpPr/>
          <p:nvPr/>
        </p:nvSpPr>
        <p:spPr>
          <a:xfrm>
            <a:off x="8069580" y="3840480"/>
            <a:ext cx="178308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Commerce-Ready</a:t>
            </a:r>
            <a:endParaRPr lang="en-US" sz="1050" dirty="0"/>
          </a:p>
        </p:txBody>
      </p:sp>
      <p:sp>
        <p:nvSpPr>
          <p:cNvPr id="36" name="Text 34"/>
          <p:cNvSpPr/>
          <p:nvPr/>
        </p:nvSpPr>
        <p:spPr>
          <a:xfrm>
            <a:off x="548640" y="5989320"/>
            <a:ext cx="10881360" cy="365760"/>
          </a:xfrm>
          <a:prstGeom prst="rect">
            <a:avLst/>
          </a:prstGeom>
          <a:noFill/>
          <a:ln/>
        </p:spPr>
        <p:txBody>
          <a:bodyPr wrap="square" lIns="0" tIns="0" rIns="0" bIns="0"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Every arrow is real code, not a slide metaphor — see app/orchestration/pipeline.py::process_row.</a:t>
            </a:r>
            <a:endParaRPr lang="en-US" sz="1150" dirty="0"/>
          </a:p>
        </p:txBody>
      </p:sp>
      <p:sp>
        <p:nvSpPr>
          <p:cNvPr id="37" name="Text 35"/>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05 / 20</a:t>
            </a:r>
            <a:endParaRPr lang="en-US" sz="900" dirty="0"/>
          </a:p>
        </p:txBody>
      </p:sp>
      <p:sp>
        <p:nvSpPr>
          <p:cNvPr id="38" name="Text 36"/>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6FA1FF"/>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Layered, not monolithic</a:t>
            </a:r>
            <a:endParaRPr lang="en-US" sz="3000" dirty="0"/>
          </a:p>
        </p:txBody>
      </p:sp>
      <p:sp>
        <p:nvSpPr>
          <p:cNvPr id="4" name="Shape 2"/>
          <p:cNvSpPr/>
          <p:nvPr/>
        </p:nvSpPr>
        <p:spPr>
          <a:xfrm>
            <a:off x="640080" y="1600200"/>
            <a:ext cx="6675120" cy="658368"/>
          </a:xfrm>
          <a:prstGeom prst="roundRect">
            <a:avLst>
              <a:gd name="adj" fmla="val 8333"/>
            </a:avLst>
          </a:prstGeom>
          <a:solidFill>
            <a:srgbClr val="1A2244"/>
          </a:solidFill>
          <a:ln w="12700">
            <a:solidFill>
              <a:srgbClr val="2A3A66"/>
            </a:solidFill>
            <a:prstDash val="solid"/>
          </a:ln>
        </p:spPr>
      </p:sp>
      <p:sp>
        <p:nvSpPr>
          <p:cNvPr id="5" name="Text 3"/>
          <p:cNvSpPr/>
          <p:nvPr/>
        </p:nvSpPr>
        <p:spPr>
          <a:xfrm>
            <a:off x="868680" y="160020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Master Data Intelligence</a:t>
            </a:r>
            <a:endParaRPr lang="en-US" sz="1300" dirty="0"/>
          </a:p>
        </p:txBody>
      </p:sp>
      <p:sp>
        <p:nvSpPr>
          <p:cNvPr id="6" name="Text 4"/>
          <p:cNvSpPr/>
          <p:nvPr/>
        </p:nvSpPr>
        <p:spPr>
          <a:xfrm>
            <a:off x="3200400" y="1600200"/>
            <a:ext cx="4023360" cy="658368"/>
          </a:xfrm>
          <a:prstGeom prst="rect">
            <a:avLst/>
          </a:prstGeom>
          <a:noFill/>
          <a:ln/>
        </p:spPr>
        <p:txBody>
          <a:bodyPr wrap="square" lIns="0" tIns="0" rIns="0" bIns="0" rtlCol="0" anchor="ctr"/>
          <a:lstStyle/>
          <a:p>
            <a:pPr indent="0" marL="0">
              <a:buNone/>
            </a:pPr>
            <a:r>
              <a:rPr lang="en-US" sz="1050" dirty="0">
                <a:solidFill>
                  <a:srgbClr val="AEB8CC"/>
                </a:solidFill>
                <a:latin typeface="Calibri" pitchFamily="34" charset="0"/>
                <a:ea typeface="Calibri" pitchFamily="34" charset="-122"/>
                <a:cs typeface="Calibri" pitchFamily="34" charset="-120"/>
              </a:rPr>
              <a:t>Manufacturer/Brand master · Taxonomy &amp; LOV · UOM standards · Fraction table</a:t>
            </a:r>
            <a:endParaRPr lang="en-US" sz="1050" dirty="0"/>
          </a:p>
        </p:txBody>
      </p:sp>
      <p:sp>
        <p:nvSpPr>
          <p:cNvPr id="7" name="Shape 5"/>
          <p:cNvSpPr/>
          <p:nvPr/>
        </p:nvSpPr>
        <p:spPr>
          <a:xfrm>
            <a:off x="640080" y="2350008"/>
            <a:ext cx="6675120" cy="658368"/>
          </a:xfrm>
          <a:prstGeom prst="roundRect">
            <a:avLst>
              <a:gd name="adj" fmla="val 8333"/>
            </a:avLst>
          </a:prstGeom>
          <a:solidFill>
            <a:srgbClr val="1A2244"/>
          </a:solidFill>
          <a:ln w="12700">
            <a:solidFill>
              <a:srgbClr val="2A3A66"/>
            </a:solidFill>
            <a:prstDash val="solid"/>
          </a:ln>
        </p:spPr>
      </p:sp>
      <p:sp>
        <p:nvSpPr>
          <p:cNvPr id="8" name="Text 6"/>
          <p:cNvSpPr/>
          <p:nvPr/>
        </p:nvSpPr>
        <p:spPr>
          <a:xfrm>
            <a:off x="868680" y="2350008"/>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Hybrid Extraction</a:t>
            </a:r>
            <a:endParaRPr lang="en-US" sz="1300" dirty="0"/>
          </a:p>
        </p:txBody>
      </p:sp>
      <p:sp>
        <p:nvSpPr>
          <p:cNvPr id="9" name="Text 7"/>
          <p:cNvSpPr/>
          <p:nvPr/>
        </p:nvSpPr>
        <p:spPr>
          <a:xfrm>
            <a:off x="3200400" y="2350008"/>
            <a:ext cx="4023360" cy="658368"/>
          </a:xfrm>
          <a:prstGeom prst="rect">
            <a:avLst/>
          </a:prstGeom>
          <a:noFill/>
          <a:ln/>
        </p:spPr>
        <p:txBody>
          <a:bodyPr wrap="square" lIns="0" tIns="0" rIns="0" bIns="0" rtlCol="0" anchor="ctr"/>
          <a:lstStyle/>
          <a:p>
            <a:pPr indent="0" marL="0">
              <a:buNone/>
            </a:pPr>
            <a:r>
              <a:rPr lang="en-US" sz="1050" dirty="0">
                <a:solidFill>
                  <a:srgbClr val="AEB8CC"/>
                </a:solidFill>
                <a:latin typeface="Calibri" pitchFamily="34" charset="0"/>
                <a:ea typeface="Calibri" pitchFamily="34" charset="-122"/>
                <a:cs typeface="Calibri" pitchFamily="34" charset="-120"/>
              </a:rPr>
              <a:t>Deterministic regex evidence extraction + constrained LLM adjudication (Mock/Claude)</a:t>
            </a:r>
            <a:endParaRPr lang="en-US" sz="1050" dirty="0"/>
          </a:p>
        </p:txBody>
      </p:sp>
      <p:sp>
        <p:nvSpPr>
          <p:cNvPr id="10" name="Shape 8"/>
          <p:cNvSpPr/>
          <p:nvPr/>
        </p:nvSpPr>
        <p:spPr>
          <a:xfrm>
            <a:off x="640080" y="3099816"/>
            <a:ext cx="6675120" cy="658368"/>
          </a:xfrm>
          <a:prstGeom prst="roundRect">
            <a:avLst>
              <a:gd name="adj" fmla="val 8333"/>
            </a:avLst>
          </a:prstGeom>
          <a:solidFill>
            <a:srgbClr val="1A2244"/>
          </a:solidFill>
          <a:ln w="12700">
            <a:solidFill>
              <a:srgbClr val="2A3A66"/>
            </a:solidFill>
            <a:prstDash val="solid"/>
          </a:ln>
        </p:spPr>
      </p:sp>
      <p:sp>
        <p:nvSpPr>
          <p:cNvPr id="11" name="Text 9"/>
          <p:cNvSpPr/>
          <p:nvPr/>
        </p:nvSpPr>
        <p:spPr>
          <a:xfrm>
            <a:off x="868680" y="3099816"/>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Normalization</a:t>
            </a:r>
            <a:endParaRPr lang="en-US" sz="1300" dirty="0"/>
          </a:p>
        </p:txBody>
      </p:sp>
      <p:sp>
        <p:nvSpPr>
          <p:cNvPr id="12" name="Text 10"/>
          <p:cNvSpPr/>
          <p:nvPr/>
        </p:nvSpPr>
        <p:spPr>
          <a:xfrm>
            <a:off x="3200400" y="3099816"/>
            <a:ext cx="4023360" cy="658368"/>
          </a:xfrm>
          <a:prstGeom prst="rect">
            <a:avLst/>
          </a:prstGeom>
          <a:noFill/>
          <a:ln/>
        </p:spPr>
        <p:txBody>
          <a:bodyPr wrap="square" lIns="0" tIns="0" rIns="0" bIns="0" rtlCol="0" anchor="ctr"/>
          <a:lstStyle/>
          <a:p>
            <a:pPr indent="0" marL="0">
              <a:buNone/>
            </a:pPr>
            <a:r>
              <a:rPr lang="en-US" sz="1050" dirty="0">
                <a:solidFill>
                  <a:srgbClr val="AEB8CC"/>
                </a:solidFill>
                <a:latin typeface="Calibri" pitchFamily="34" charset="0"/>
                <a:ea typeface="Calibri" pitchFamily="34" charset="-122"/>
                <a:cs typeface="Calibri" pitchFamily="34" charset="-120"/>
              </a:rPr>
              <a:t>UOM canonicalization + trade-fraction rendering — table lookups, zero LLM calls</a:t>
            </a:r>
            <a:endParaRPr lang="en-US" sz="1050" dirty="0"/>
          </a:p>
        </p:txBody>
      </p:sp>
      <p:sp>
        <p:nvSpPr>
          <p:cNvPr id="13" name="Shape 11"/>
          <p:cNvSpPr/>
          <p:nvPr/>
        </p:nvSpPr>
        <p:spPr>
          <a:xfrm>
            <a:off x="640080" y="3849624"/>
            <a:ext cx="6675120" cy="658368"/>
          </a:xfrm>
          <a:prstGeom prst="roundRect">
            <a:avLst>
              <a:gd name="adj" fmla="val 8333"/>
            </a:avLst>
          </a:prstGeom>
          <a:solidFill>
            <a:srgbClr val="1A2244"/>
          </a:solidFill>
          <a:ln w="12700">
            <a:solidFill>
              <a:srgbClr val="2A3A66"/>
            </a:solidFill>
            <a:prstDash val="solid"/>
          </a:ln>
        </p:spPr>
      </p:sp>
      <p:sp>
        <p:nvSpPr>
          <p:cNvPr id="14" name="Text 12"/>
          <p:cNvSpPr/>
          <p:nvPr/>
        </p:nvSpPr>
        <p:spPr>
          <a:xfrm>
            <a:off x="868680" y="3849624"/>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Evidence &amp; Provenance</a:t>
            </a:r>
            <a:endParaRPr lang="en-US" sz="1300" dirty="0"/>
          </a:p>
        </p:txBody>
      </p:sp>
      <p:sp>
        <p:nvSpPr>
          <p:cNvPr id="15" name="Text 13"/>
          <p:cNvSpPr/>
          <p:nvPr/>
        </p:nvSpPr>
        <p:spPr>
          <a:xfrm>
            <a:off x="3200400" y="3849624"/>
            <a:ext cx="4023360" cy="658368"/>
          </a:xfrm>
          <a:prstGeom prst="rect">
            <a:avLst/>
          </a:prstGeom>
          <a:noFill/>
          <a:ln/>
        </p:spPr>
        <p:txBody>
          <a:bodyPr wrap="square" lIns="0" tIns="0" rIns="0" bIns="0" rtlCol="0" anchor="ctr"/>
          <a:lstStyle/>
          <a:p>
            <a:pPr indent="0" marL="0">
              <a:buNone/>
            </a:pPr>
            <a:r>
              <a:rPr lang="en-US" sz="1050" dirty="0">
                <a:solidFill>
                  <a:srgbClr val="AEB8CC"/>
                </a:solidFill>
                <a:latin typeface="Calibri" pitchFamily="34" charset="0"/>
                <a:ea typeface="Calibri" pitchFamily="34" charset="-122"/>
                <a:cs typeface="Calibri" pitchFamily="34" charset="-120"/>
              </a:rPr>
              <a:t>Claim registry with provenance types + manufacturer-first source authority ranking</a:t>
            </a:r>
            <a:endParaRPr lang="en-US" sz="1050" dirty="0"/>
          </a:p>
        </p:txBody>
      </p:sp>
      <p:sp>
        <p:nvSpPr>
          <p:cNvPr id="16" name="Shape 14"/>
          <p:cNvSpPr/>
          <p:nvPr/>
        </p:nvSpPr>
        <p:spPr>
          <a:xfrm>
            <a:off x="640080" y="4599432"/>
            <a:ext cx="6675120" cy="658368"/>
          </a:xfrm>
          <a:prstGeom prst="roundRect">
            <a:avLst>
              <a:gd name="adj" fmla="val 8333"/>
            </a:avLst>
          </a:prstGeom>
          <a:solidFill>
            <a:srgbClr val="1A2244"/>
          </a:solidFill>
          <a:ln w="12700">
            <a:solidFill>
              <a:srgbClr val="2A3A66"/>
            </a:solidFill>
            <a:prstDash val="solid"/>
          </a:ln>
        </p:spPr>
      </p:sp>
      <p:sp>
        <p:nvSpPr>
          <p:cNvPr id="17" name="Text 15"/>
          <p:cNvSpPr/>
          <p:nvPr/>
        </p:nvSpPr>
        <p:spPr>
          <a:xfrm>
            <a:off x="868680" y="4599432"/>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Validation &amp; Conflict</a:t>
            </a:r>
            <a:endParaRPr lang="en-US" sz="1300" dirty="0"/>
          </a:p>
        </p:txBody>
      </p:sp>
      <p:sp>
        <p:nvSpPr>
          <p:cNvPr id="18" name="Text 16"/>
          <p:cNvSpPr/>
          <p:nvPr/>
        </p:nvSpPr>
        <p:spPr>
          <a:xfrm>
            <a:off x="3200400" y="4599432"/>
            <a:ext cx="4023360" cy="658368"/>
          </a:xfrm>
          <a:prstGeom prst="rect">
            <a:avLst/>
          </a:prstGeom>
          <a:noFill/>
          <a:ln/>
        </p:spPr>
        <p:txBody>
          <a:bodyPr wrap="square" lIns="0" tIns="0" rIns="0" bIns="0" rtlCol="0" anchor="ctr"/>
          <a:lstStyle/>
          <a:p>
            <a:pPr indent="0" marL="0">
              <a:buNone/>
            </a:pPr>
            <a:r>
              <a:rPr lang="en-US" sz="1050" dirty="0">
                <a:solidFill>
                  <a:srgbClr val="AEB8CC"/>
                </a:solidFill>
                <a:latin typeface="Calibri" pitchFamily="34" charset="0"/>
                <a:ea typeface="Calibri" pitchFamily="34" charset="-122"/>
                <a:cs typeface="Calibri" pitchFamily="34" charset="-120"/>
              </a:rPr>
              <a:t>Schema / vocabulary / formatting / semantic / cross-field / source checks</a:t>
            </a:r>
            <a:endParaRPr lang="en-US" sz="1050" dirty="0"/>
          </a:p>
        </p:txBody>
      </p:sp>
      <p:sp>
        <p:nvSpPr>
          <p:cNvPr id="19" name="Shape 17"/>
          <p:cNvSpPr/>
          <p:nvPr/>
        </p:nvSpPr>
        <p:spPr>
          <a:xfrm>
            <a:off x="640080" y="5349240"/>
            <a:ext cx="6675120" cy="658368"/>
          </a:xfrm>
          <a:prstGeom prst="roundRect">
            <a:avLst>
              <a:gd name="adj" fmla="val 8333"/>
            </a:avLst>
          </a:prstGeom>
          <a:solidFill>
            <a:srgbClr val="1A2244"/>
          </a:solidFill>
          <a:ln w="12700">
            <a:solidFill>
              <a:srgbClr val="2A3A66"/>
            </a:solidFill>
            <a:prstDash val="solid"/>
          </a:ln>
        </p:spPr>
      </p:sp>
      <p:sp>
        <p:nvSpPr>
          <p:cNvPr id="20" name="Text 18"/>
          <p:cNvSpPr/>
          <p:nvPr/>
        </p:nvSpPr>
        <p:spPr>
          <a:xfrm>
            <a:off x="868680" y="534924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Confidence &amp; Review</a:t>
            </a:r>
            <a:endParaRPr lang="en-US" sz="1300" dirty="0"/>
          </a:p>
        </p:txBody>
      </p:sp>
      <p:sp>
        <p:nvSpPr>
          <p:cNvPr id="21" name="Text 19"/>
          <p:cNvSpPr/>
          <p:nvPr/>
        </p:nvSpPr>
        <p:spPr>
          <a:xfrm>
            <a:off x="3200400" y="5349240"/>
            <a:ext cx="4023360" cy="658368"/>
          </a:xfrm>
          <a:prstGeom prst="rect">
            <a:avLst/>
          </a:prstGeom>
          <a:noFill/>
          <a:ln/>
        </p:spPr>
        <p:txBody>
          <a:bodyPr wrap="square" lIns="0" tIns="0" rIns="0" bIns="0" rtlCol="0" anchor="ctr"/>
          <a:lstStyle/>
          <a:p>
            <a:pPr indent="0" marL="0">
              <a:buNone/>
            </a:pPr>
            <a:r>
              <a:rPr lang="en-US" sz="1050" dirty="0">
                <a:solidFill>
                  <a:srgbClr val="AEB8CC"/>
                </a:solidFill>
                <a:latin typeface="Calibri" pitchFamily="34" charset="0"/>
                <a:ea typeface="Calibri" pitchFamily="34" charset="-122"/>
                <a:cs typeface="Calibri" pitchFamily="34" charset="-120"/>
              </a:rPr>
              <a:t>Signal-based scoring → structured human-review queue</a:t>
            </a:r>
            <a:endParaRPr lang="en-US" sz="1050" dirty="0"/>
          </a:p>
        </p:txBody>
      </p:sp>
      <p:sp>
        <p:nvSpPr>
          <p:cNvPr id="22" name="Shape 20"/>
          <p:cNvSpPr/>
          <p:nvPr/>
        </p:nvSpPr>
        <p:spPr>
          <a:xfrm>
            <a:off x="7635240" y="1600200"/>
            <a:ext cx="3977640" cy="4498848"/>
          </a:xfrm>
          <a:prstGeom prst="roundRect">
            <a:avLst>
              <a:gd name="adj" fmla="val 1839"/>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23" name="Text 21"/>
          <p:cNvSpPr/>
          <p:nvPr/>
        </p:nvSpPr>
        <p:spPr>
          <a:xfrm>
            <a:off x="7863840" y="1783080"/>
            <a:ext cx="3566160" cy="274320"/>
          </a:xfrm>
          <a:prstGeom prst="rect">
            <a:avLst/>
          </a:prstGeom>
          <a:noFill/>
          <a:ln/>
        </p:spPr>
        <p:txBody>
          <a:bodyPr wrap="square" lIns="0" tIns="0" rIns="0" bIns="0" rtlCol="0" anchor="ctr"/>
          <a:lstStyle/>
          <a:p>
            <a:pPr indent="0" marL="0">
              <a:buNone/>
            </a:pPr>
            <a:r>
              <a:rPr lang="en-US" sz="1050" b="1" spc="100" kern="0" dirty="0">
                <a:solidFill>
                  <a:srgbClr val="6FA1FF"/>
                </a:solidFill>
                <a:latin typeface="Calibri" pitchFamily="34" charset="0"/>
                <a:ea typeface="Calibri" pitchFamily="34" charset="-122"/>
                <a:cs typeface="Calibri" pitchFamily="34" charset="-120"/>
              </a:rPr>
              <a:t>SURFACES</a:t>
            </a:r>
            <a:endParaRPr lang="en-US" sz="1050" dirty="0"/>
          </a:p>
        </p:txBody>
      </p:sp>
      <p:sp>
        <p:nvSpPr>
          <p:cNvPr id="24" name="Text 22"/>
          <p:cNvSpPr/>
          <p:nvPr/>
        </p:nvSpPr>
        <p:spPr>
          <a:xfrm>
            <a:off x="7863840" y="2148840"/>
            <a:ext cx="3566160" cy="3200400"/>
          </a:xfrm>
          <a:prstGeom prst="rect">
            <a:avLst/>
          </a:prstGeom>
          <a:noFill/>
          <a:ln/>
        </p:spPr>
        <p:txBody>
          <a:bodyPr wrap="square" lIns="0" tIns="0" rIns="0" bIns="0" rtlCol="0" anchor="t"/>
          <a:lstStyle/>
          <a:p>
            <a:pPr marL="228600" indent="-228600">
              <a:spcAft>
                <a:spcPts val="1200"/>
              </a:spcAft>
              <a:buSzPct val="100000"/>
              <a:buChar char="▪"/>
            </a:pPr>
            <a:r>
              <a:rPr lang="en-US" sz="1150" dirty="0">
                <a:solidFill>
                  <a:srgbClr val="D6DCEA"/>
                </a:solidFill>
                <a:latin typeface="Calibri" pitchFamily="34" charset="0"/>
                <a:ea typeface="Calibri" pitchFamily="34" charset="-122"/>
                <a:cs typeface="Calibri" pitchFamily="34" charset="-120"/>
              </a:rPr>
              <a:t>FastAPI backend — upload / process / review / evaluate / download</a:t>
            </a:r>
            <a:endParaRPr lang="en-US" sz="1150" dirty="0"/>
          </a:p>
          <a:p>
            <a:pPr marL="228600" indent="-228600">
              <a:spcAft>
                <a:spcPts val="1200"/>
              </a:spcAft>
              <a:buSzPct val="100000"/>
              <a:buChar char="▪"/>
            </a:pPr>
            <a:r>
              <a:rPr lang="en-US" sz="1150" dirty="0">
                <a:solidFill>
                  <a:srgbClr val="D6DCEA"/>
                </a:solidFill>
                <a:latin typeface="Calibri" pitchFamily="34" charset="0"/>
                <a:ea typeface="Calibri" pitchFamily="34" charset="-122"/>
                <a:cs typeface="Calibri" pitchFamily="34" charset="-120"/>
              </a:rPr>
              <a:t>No-build vanilla-JS enterprise SPA — 7 views, live data only</a:t>
            </a:r>
            <a:endParaRPr lang="en-US" sz="1150" dirty="0"/>
          </a:p>
          <a:p>
            <a:pPr marL="228600" indent="-228600">
              <a:spcAft>
                <a:spcPts val="1200"/>
              </a:spcAft>
              <a:buSzPct val="100000"/>
              <a:buChar char="▪"/>
            </a:pPr>
            <a:r>
              <a:rPr lang="en-US" sz="1150" dirty="0">
                <a:solidFill>
                  <a:srgbClr val="D6DCEA"/>
                </a:solidFill>
                <a:latin typeface="Calibri" pitchFamily="34" charset="0"/>
                <a:ea typeface="Calibri" pitchFamily="34" charset="-122"/>
                <a:cs typeface="Calibri" pitchFamily="34" charset="-120"/>
              </a:rPr>
              <a:t>CLI — enrich / evaluate / profile / build-index</a:t>
            </a:r>
            <a:endParaRPr lang="en-US" sz="1150" dirty="0"/>
          </a:p>
          <a:p>
            <a:pPr marL="228600" indent="-228600">
              <a:spcAft>
                <a:spcPts val="1200"/>
              </a:spcAft>
              <a:buSzPct val="100000"/>
              <a:buChar char="▪"/>
            </a:pPr>
            <a:r>
              <a:rPr lang="en-US" sz="1150" dirty="0">
                <a:solidFill>
                  <a:srgbClr val="D6DCEA"/>
                </a:solidFill>
                <a:latin typeface="Calibri" pitchFamily="34" charset="0"/>
                <a:ea typeface="Calibri" pitchFamily="34" charset="-122"/>
                <a:cs typeface="Calibri" pitchFamily="34" charset="-120"/>
              </a:rPr>
              <a:t>43-test suite, fully offline (APP_MODE=mock)</a:t>
            </a:r>
            <a:endParaRPr lang="en-US" sz="1150" dirty="0"/>
          </a:p>
        </p:txBody>
      </p:sp>
      <p:sp>
        <p:nvSpPr>
          <p:cNvPr id="25" name="Text 23"/>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06 / 20</a:t>
            </a:r>
            <a:endParaRPr lang="en-US" sz="900" dirty="0"/>
          </a:p>
        </p:txBody>
      </p:sp>
      <p:sp>
        <p:nvSpPr>
          <p:cNvPr id="26" name="Text 24"/>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8F9BB3"/>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MANUFACTURER / BRAND INTELLIGENCE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Escalating, explainable entity resolution</a:t>
            </a:r>
            <a:endParaRPr lang="en-US" sz="3000" dirty="0"/>
          </a:p>
        </p:txBody>
      </p:sp>
      <p:sp>
        <p:nvSpPr>
          <p:cNvPr id="4" name="Shape 2"/>
          <p:cNvSpPr/>
          <p:nvPr/>
        </p:nvSpPr>
        <p:spPr>
          <a:xfrm>
            <a:off x="448056" y="1691640"/>
            <a:ext cx="1783080" cy="594360"/>
          </a:xfrm>
          <a:prstGeom prst="roundRect">
            <a:avLst>
              <a:gd name="adj" fmla="val 9231"/>
            </a:avLst>
          </a:prstGeom>
          <a:solidFill>
            <a:srgbClr val="FFFFFF"/>
          </a:solidFill>
          <a:ln w="15875">
            <a:solidFill>
              <a:srgbClr val="E2E6EC"/>
            </a:solidFill>
            <a:prstDash val="solid"/>
          </a:ln>
        </p:spPr>
      </p:sp>
      <p:sp>
        <p:nvSpPr>
          <p:cNvPr id="5" name="Text 3"/>
          <p:cNvSpPr/>
          <p:nvPr/>
        </p:nvSpPr>
        <p:spPr>
          <a:xfrm>
            <a:off x="448056" y="1691640"/>
            <a:ext cx="1783080" cy="59436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Exact match</a:t>
            </a:r>
            <a:endParaRPr lang="en-US" sz="1050" dirty="0"/>
          </a:p>
        </p:txBody>
      </p:sp>
      <p:sp>
        <p:nvSpPr>
          <p:cNvPr id="6" name="Text 4"/>
          <p:cNvSpPr/>
          <p:nvPr/>
        </p:nvSpPr>
        <p:spPr>
          <a:xfrm>
            <a:off x="2231136" y="1691640"/>
            <a:ext cx="118872" cy="59436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7" name="Shape 5"/>
          <p:cNvSpPr/>
          <p:nvPr/>
        </p:nvSpPr>
        <p:spPr>
          <a:xfrm>
            <a:off x="2350008" y="1691640"/>
            <a:ext cx="1783080" cy="594360"/>
          </a:xfrm>
          <a:prstGeom prst="roundRect">
            <a:avLst>
              <a:gd name="adj" fmla="val 9231"/>
            </a:avLst>
          </a:prstGeom>
          <a:solidFill>
            <a:srgbClr val="FFFFFF"/>
          </a:solidFill>
          <a:ln w="15875">
            <a:solidFill>
              <a:srgbClr val="E2E6EC"/>
            </a:solidFill>
            <a:prstDash val="solid"/>
          </a:ln>
        </p:spPr>
      </p:sp>
      <p:sp>
        <p:nvSpPr>
          <p:cNvPr id="8" name="Text 6"/>
          <p:cNvSpPr/>
          <p:nvPr/>
        </p:nvSpPr>
        <p:spPr>
          <a:xfrm>
            <a:off x="2350008" y="1691640"/>
            <a:ext cx="1783080" cy="59436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Normalized match</a:t>
            </a:r>
            <a:endParaRPr lang="en-US" sz="1050" dirty="0"/>
          </a:p>
        </p:txBody>
      </p:sp>
      <p:sp>
        <p:nvSpPr>
          <p:cNvPr id="9" name="Text 7"/>
          <p:cNvSpPr/>
          <p:nvPr/>
        </p:nvSpPr>
        <p:spPr>
          <a:xfrm>
            <a:off x="4133088" y="1691640"/>
            <a:ext cx="118872" cy="59436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0" name="Shape 8"/>
          <p:cNvSpPr/>
          <p:nvPr/>
        </p:nvSpPr>
        <p:spPr>
          <a:xfrm>
            <a:off x="4251960" y="1691640"/>
            <a:ext cx="1783080" cy="594360"/>
          </a:xfrm>
          <a:prstGeom prst="roundRect">
            <a:avLst>
              <a:gd name="adj" fmla="val 9231"/>
            </a:avLst>
          </a:prstGeom>
          <a:solidFill>
            <a:srgbClr val="FFFFFF"/>
          </a:solidFill>
          <a:ln w="15875">
            <a:solidFill>
              <a:srgbClr val="E2E6EC"/>
            </a:solidFill>
            <a:prstDash val="solid"/>
          </a:ln>
        </p:spPr>
      </p:sp>
      <p:sp>
        <p:nvSpPr>
          <p:cNvPr id="11" name="Text 9"/>
          <p:cNvSpPr/>
          <p:nvPr/>
        </p:nvSpPr>
        <p:spPr>
          <a:xfrm>
            <a:off x="4251960" y="1691640"/>
            <a:ext cx="1783080" cy="59436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Brand-in-text token</a:t>
            </a:r>
            <a:endParaRPr lang="en-US" sz="1050" dirty="0"/>
          </a:p>
        </p:txBody>
      </p:sp>
      <p:sp>
        <p:nvSpPr>
          <p:cNvPr id="12" name="Text 10"/>
          <p:cNvSpPr/>
          <p:nvPr/>
        </p:nvSpPr>
        <p:spPr>
          <a:xfrm>
            <a:off x="6035040" y="1691640"/>
            <a:ext cx="118872" cy="59436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3" name="Shape 11"/>
          <p:cNvSpPr/>
          <p:nvPr/>
        </p:nvSpPr>
        <p:spPr>
          <a:xfrm>
            <a:off x="6153912" y="1691640"/>
            <a:ext cx="1783080" cy="594360"/>
          </a:xfrm>
          <a:prstGeom prst="roundRect">
            <a:avLst>
              <a:gd name="adj" fmla="val 9231"/>
            </a:avLst>
          </a:prstGeom>
          <a:solidFill>
            <a:srgbClr val="FFFFFF"/>
          </a:solidFill>
          <a:ln w="15875">
            <a:solidFill>
              <a:srgbClr val="E2E6EC"/>
            </a:solidFill>
            <a:prstDash val="solid"/>
          </a:ln>
        </p:spPr>
      </p:sp>
      <p:sp>
        <p:nvSpPr>
          <p:cNvPr id="14" name="Text 12"/>
          <p:cNvSpPr/>
          <p:nvPr/>
        </p:nvSpPr>
        <p:spPr>
          <a:xfrm>
            <a:off x="6153912" y="1691640"/>
            <a:ext cx="1783080" cy="59436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Confirmed MPN prefix</a:t>
            </a:r>
            <a:endParaRPr lang="en-US" sz="1050" dirty="0"/>
          </a:p>
        </p:txBody>
      </p:sp>
      <p:sp>
        <p:nvSpPr>
          <p:cNvPr id="15" name="Text 13"/>
          <p:cNvSpPr/>
          <p:nvPr/>
        </p:nvSpPr>
        <p:spPr>
          <a:xfrm>
            <a:off x="7936992" y="1691640"/>
            <a:ext cx="118872" cy="59436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6" name="Shape 14"/>
          <p:cNvSpPr/>
          <p:nvPr/>
        </p:nvSpPr>
        <p:spPr>
          <a:xfrm>
            <a:off x="8055864" y="1691640"/>
            <a:ext cx="1783080" cy="594360"/>
          </a:xfrm>
          <a:prstGeom prst="roundRect">
            <a:avLst>
              <a:gd name="adj" fmla="val 9231"/>
            </a:avLst>
          </a:prstGeom>
          <a:solidFill>
            <a:srgbClr val="FFFFFF"/>
          </a:solidFill>
          <a:ln w="15875">
            <a:solidFill>
              <a:srgbClr val="E2E6EC"/>
            </a:solidFill>
            <a:prstDash val="solid"/>
          </a:ln>
        </p:spPr>
      </p:sp>
      <p:sp>
        <p:nvSpPr>
          <p:cNvPr id="17" name="Text 15"/>
          <p:cNvSpPr/>
          <p:nvPr/>
        </p:nvSpPr>
        <p:spPr>
          <a:xfrm>
            <a:off x="8055864" y="1691640"/>
            <a:ext cx="1783080" cy="59436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Fuzzy match</a:t>
            </a:r>
            <a:endParaRPr lang="en-US" sz="1050" dirty="0"/>
          </a:p>
        </p:txBody>
      </p:sp>
      <p:sp>
        <p:nvSpPr>
          <p:cNvPr id="18" name="Text 16"/>
          <p:cNvSpPr/>
          <p:nvPr/>
        </p:nvSpPr>
        <p:spPr>
          <a:xfrm>
            <a:off x="9838944" y="1691640"/>
            <a:ext cx="118872" cy="59436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9" name="Shape 17"/>
          <p:cNvSpPr/>
          <p:nvPr/>
        </p:nvSpPr>
        <p:spPr>
          <a:xfrm>
            <a:off x="9957816" y="1691640"/>
            <a:ext cx="1783080" cy="594360"/>
          </a:xfrm>
          <a:prstGeom prst="roundRect">
            <a:avLst>
              <a:gd name="adj" fmla="val 9231"/>
            </a:avLst>
          </a:prstGeom>
          <a:solidFill>
            <a:srgbClr val="1D5FD6"/>
          </a:solidFill>
          <a:ln w="15875">
            <a:solidFill>
              <a:srgbClr val="1D5FD6"/>
            </a:solidFill>
            <a:prstDash val="solid"/>
          </a:ln>
        </p:spPr>
      </p:sp>
      <p:sp>
        <p:nvSpPr>
          <p:cNvPr id="20" name="Text 18"/>
          <p:cNvSpPr/>
          <p:nvPr/>
        </p:nvSpPr>
        <p:spPr>
          <a:xfrm>
            <a:off x="9957816" y="1691640"/>
            <a:ext cx="178308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Review</a:t>
            </a:r>
            <a:endParaRPr lang="en-US" sz="1050" dirty="0"/>
          </a:p>
        </p:txBody>
      </p:sp>
      <p:sp>
        <p:nvSpPr>
          <p:cNvPr id="21" name="Shape 19"/>
          <p:cNvSpPr/>
          <p:nvPr/>
        </p:nvSpPr>
        <p:spPr>
          <a:xfrm>
            <a:off x="548640" y="2788920"/>
            <a:ext cx="10881360" cy="2606040"/>
          </a:xfrm>
          <a:prstGeom prst="roundRect">
            <a:avLst>
              <a:gd name="adj" fmla="val 2807"/>
            </a:avLst>
          </a:prstGeom>
          <a:solidFill>
            <a:srgbClr val="111827"/>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22" name="Text 20"/>
          <p:cNvSpPr/>
          <p:nvPr/>
        </p:nvSpPr>
        <p:spPr>
          <a:xfrm>
            <a:off x="868680" y="2999232"/>
            <a:ext cx="10058400" cy="320040"/>
          </a:xfrm>
          <a:prstGeom prst="rect">
            <a:avLst/>
          </a:prstGeom>
          <a:noFill/>
          <a:ln/>
        </p:spPr>
        <p:txBody>
          <a:bodyPr wrap="square" lIns="0" tIns="0" rIns="0" bIns="0" rtlCol="0" anchor="ctr"/>
          <a:lstStyle/>
          <a:p>
            <a:pPr indent="0" marL="0">
              <a:buNone/>
            </a:pPr>
            <a:r>
              <a:rPr lang="en-US" sz="1150" b="1" spc="50" kern="0" dirty="0">
                <a:solidFill>
                  <a:srgbClr val="6FA1FF"/>
                </a:solidFill>
                <a:latin typeface="Calibri" pitchFamily="34" charset="0"/>
                <a:ea typeface="Calibri" pitchFamily="34" charset="-122"/>
                <a:cs typeface="Calibri" pitchFamily="34" charset="-120"/>
              </a:rPr>
              <a:t>LIVE EXAMPLE — Part_Manuf field is a distributor, not the OEM</a:t>
            </a:r>
            <a:endParaRPr lang="en-US" sz="1150" dirty="0"/>
          </a:p>
        </p:txBody>
      </p:sp>
      <p:sp>
        <p:nvSpPr>
          <p:cNvPr id="23" name="Text 21"/>
          <p:cNvSpPr/>
          <p:nvPr/>
        </p:nvSpPr>
        <p:spPr>
          <a:xfrm>
            <a:off x="868680" y="3401568"/>
            <a:ext cx="10241280" cy="457200"/>
          </a:xfrm>
          <a:prstGeom prst="rect">
            <a:avLst/>
          </a:prstGeom>
          <a:noFill/>
          <a:ln/>
        </p:spPr>
        <p:txBody>
          <a:bodyPr wrap="square" lIns="0" tIns="0" rIns="0" bIns="0" rtlCol="0" anchor="ctr"/>
          <a:lstStyle/>
          <a:p>
            <a:pPr indent="0" marL="0">
              <a:buNone/>
            </a:pPr>
            <a:r>
              <a:rPr lang="en-US" sz="1250" b="1" dirty="0">
                <a:solidFill>
                  <a:srgbClr val="8F9BB3"/>
                </a:solidFill>
                <a:latin typeface="Courier New" pitchFamily="34" charset="0"/>
                <a:ea typeface="Courier New" pitchFamily="34" charset="-122"/>
                <a:cs typeface="Courier New" pitchFamily="34" charset="-120"/>
              </a:rPr>
              <a:t>Input:  </a:t>
            </a:r>
            <a:pPr indent="0" marL="0">
              <a:buNone/>
            </a:pPr>
            <a:r>
              <a:rPr lang="en-US" sz="1250" dirty="0">
                <a:solidFill>
                  <a:srgbClr val="FFFFFF"/>
                </a:solidFill>
                <a:latin typeface="Courier New" pitchFamily="34" charset="0"/>
                <a:ea typeface="Courier New" pitchFamily="34" charset="-122"/>
                <a:cs typeface="Courier New" pitchFamily="34" charset="-120"/>
              </a:rPr>
              <a:t>Part_Desc = "PDSH4816AF Dishwasher SS - Display Only",  Part_Manuf = "Appliance Dealers Cooperative (APPDE)"</a:t>
            </a:r>
            <a:endParaRPr lang="en-US" sz="1250" dirty="0"/>
          </a:p>
        </p:txBody>
      </p:sp>
      <p:sp>
        <p:nvSpPr>
          <p:cNvPr id="24" name="Text 22"/>
          <p:cNvSpPr/>
          <p:nvPr/>
        </p:nvSpPr>
        <p:spPr>
          <a:xfrm>
            <a:off x="868680" y="3886200"/>
            <a:ext cx="10241280" cy="411480"/>
          </a:xfrm>
          <a:prstGeom prst="rect">
            <a:avLst/>
          </a:prstGeom>
          <a:noFill/>
          <a:ln/>
        </p:spPr>
        <p:txBody>
          <a:bodyPr wrap="square" lIns="0" tIns="0" rIns="0" bIns="0" rtlCol="0" anchor="ctr"/>
          <a:lstStyle/>
          <a:p>
            <a:pPr indent="0" marL="0">
              <a:buNone/>
            </a:pPr>
            <a:r>
              <a:rPr lang="en-US" sz="1400" b="1" dirty="0">
                <a:solidFill>
                  <a:srgbClr val="8F9BB3"/>
                </a:solidFill>
                <a:latin typeface="Courier New" pitchFamily="34" charset="0"/>
                <a:ea typeface="Courier New" pitchFamily="34" charset="-122"/>
                <a:cs typeface="Courier New" pitchFamily="34" charset="-120"/>
              </a:rPr>
              <a:t>System resolves:  </a:t>
            </a:r>
            <a:pPr indent="0" marL="0">
              <a:buNone/>
            </a:pPr>
            <a:r>
              <a:rPr lang="en-US" sz="1400" b="1" dirty="0">
                <a:solidFill>
                  <a:srgbClr val="6FE0A8"/>
                </a:solidFill>
                <a:latin typeface="Courier New" pitchFamily="34" charset="0"/>
                <a:ea typeface="Courier New" pitchFamily="34" charset="-122"/>
                <a:cs typeface="Courier New" pitchFamily="34" charset="-120"/>
              </a:rPr>
              <a:t>Manufacturer = Rheem Manufacturing   Brand = FRIGIDAIRE®</a:t>
            </a:r>
            <a:endParaRPr lang="en-US" sz="1400" dirty="0"/>
          </a:p>
        </p:txBody>
      </p:sp>
      <p:sp>
        <p:nvSpPr>
          <p:cNvPr id="25" name="Text 23"/>
          <p:cNvSpPr/>
          <p:nvPr/>
        </p:nvSpPr>
        <p:spPr>
          <a:xfrm>
            <a:off x="868680" y="4389120"/>
            <a:ext cx="10241280" cy="868680"/>
          </a:xfrm>
          <a:prstGeom prst="rect">
            <a:avLst/>
          </a:prstGeom>
          <a:noFill/>
          <a:ln/>
        </p:spPr>
        <p:txBody>
          <a:bodyPr wrap="square" lIns="0" tIns="0" rIns="0" bIns="0" rtlCol="0" anchor="ctr"/>
          <a:lstStyle/>
          <a:p>
            <a:pPr indent="0" marL="0">
              <a:lnSpc>
                <a:spcPct val="125000"/>
              </a:lnSpc>
              <a:buNone/>
            </a:pPr>
            <a:r>
              <a:rPr lang="en-US" sz="1200" i="1" dirty="0">
                <a:solidFill>
                  <a:srgbClr val="C6CEDD"/>
                </a:solidFill>
                <a:latin typeface="Calibri" pitchFamily="34" charset="0"/>
                <a:ea typeface="Calibri" pitchFamily="34" charset="-122"/>
                <a:cs typeface="Calibri" pitchFamily="34" charset="-120"/>
              </a:rPr>
              <a:t>Evidence: "MPN prefix 'PDSH' matched a confirmed manufacturer pattern" — the distributor co-op name is resolved separately and explicitly discarded in favor of stronger evidence. Not a guess: a cited, ranked decision.</a:t>
            </a:r>
            <a:endParaRPr lang="en-US" sz="1200" dirty="0"/>
          </a:p>
        </p:txBody>
      </p:sp>
      <p:sp>
        <p:nvSpPr>
          <p:cNvPr id="26" name="Text 24"/>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07 / 20</a:t>
            </a:r>
            <a:endParaRPr lang="en-US" sz="900" dirty="0"/>
          </a:p>
        </p:txBody>
      </p:sp>
      <p:sp>
        <p:nvSpPr>
          <p:cNvPr id="27" name="Text 25"/>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CONTROLLED VOCABULARY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The LLM proposes; the vocabulary disposes</a:t>
            </a:r>
            <a:endParaRPr lang="en-US" sz="3000" dirty="0"/>
          </a:p>
        </p:txBody>
      </p:sp>
      <p:sp>
        <p:nvSpPr>
          <p:cNvPr id="4" name="Shape 2"/>
          <p:cNvSpPr/>
          <p:nvPr/>
        </p:nvSpPr>
        <p:spPr>
          <a:xfrm>
            <a:off x="676656" y="1828800"/>
            <a:ext cx="2057400" cy="640080"/>
          </a:xfrm>
          <a:prstGeom prst="roundRect">
            <a:avLst>
              <a:gd name="adj" fmla="val 8571"/>
            </a:avLst>
          </a:prstGeom>
          <a:solidFill>
            <a:srgbClr val="FFFFFF"/>
          </a:solidFill>
          <a:ln w="15875">
            <a:solidFill>
              <a:srgbClr val="E2E6EC"/>
            </a:solidFill>
            <a:prstDash val="solid"/>
          </a:ln>
        </p:spPr>
      </p:sp>
      <p:sp>
        <p:nvSpPr>
          <p:cNvPr id="5" name="Text 3"/>
          <p:cNvSpPr/>
          <p:nvPr/>
        </p:nvSpPr>
        <p:spPr>
          <a:xfrm>
            <a:off x="676656" y="1828800"/>
            <a:ext cx="2057400" cy="64008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Raw value</a:t>
            </a:r>
            <a:endParaRPr lang="en-US" sz="1050" dirty="0"/>
          </a:p>
        </p:txBody>
      </p:sp>
      <p:sp>
        <p:nvSpPr>
          <p:cNvPr id="6" name="Text 4"/>
          <p:cNvSpPr/>
          <p:nvPr/>
        </p:nvSpPr>
        <p:spPr>
          <a:xfrm>
            <a:off x="2734056" y="1828800"/>
            <a:ext cx="137160" cy="64008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7" name="Shape 5"/>
          <p:cNvSpPr/>
          <p:nvPr/>
        </p:nvSpPr>
        <p:spPr>
          <a:xfrm>
            <a:off x="2871216" y="1828800"/>
            <a:ext cx="2057400" cy="640080"/>
          </a:xfrm>
          <a:prstGeom prst="roundRect">
            <a:avLst>
              <a:gd name="adj" fmla="val 8571"/>
            </a:avLst>
          </a:prstGeom>
          <a:solidFill>
            <a:srgbClr val="FFFFFF"/>
          </a:solidFill>
          <a:ln w="15875">
            <a:solidFill>
              <a:srgbClr val="E2E6EC"/>
            </a:solidFill>
            <a:prstDash val="solid"/>
          </a:ln>
        </p:spPr>
      </p:sp>
      <p:sp>
        <p:nvSpPr>
          <p:cNvPr id="8" name="Text 6"/>
          <p:cNvSpPr/>
          <p:nvPr/>
        </p:nvSpPr>
        <p:spPr>
          <a:xfrm>
            <a:off x="2871216" y="1828800"/>
            <a:ext cx="2057400" cy="64008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Candidate retrieval</a:t>
            </a:r>
            <a:endParaRPr lang="en-US" sz="1050" dirty="0"/>
          </a:p>
        </p:txBody>
      </p:sp>
      <p:sp>
        <p:nvSpPr>
          <p:cNvPr id="9" name="Text 7"/>
          <p:cNvSpPr/>
          <p:nvPr/>
        </p:nvSpPr>
        <p:spPr>
          <a:xfrm>
            <a:off x="4928616" y="1828800"/>
            <a:ext cx="137160" cy="64008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0" name="Shape 8"/>
          <p:cNvSpPr/>
          <p:nvPr/>
        </p:nvSpPr>
        <p:spPr>
          <a:xfrm>
            <a:off x="5065776" y="1828800"/>
            <a:ext cx="2057400" cy="640080"/>
          </a:xfrm>
          <a:prstGeom prst="roundRect">
            <a:avLst>
              <a:gd name="adj" fmla="val 8571"/>
            </a:avLst>
          </a:prstGeom>
          <a:solidFill>
            <a:srgbClr val="FFFFFF"/>
          </a:solidFill>
          <a:ln w="15875">
            <a:solidFill>
              <a:srgbClr val="E2E6EC"/>
            </a:solidFill>
            <a:prstDash val="solid"/>
          </a:ln>
        </p:spPr>
      </p:sp>
      <p:sp>
        <p:nvSpPr>
          <p:cNvPr id="11" name="Text 9"/>
          <p:cNvSpPr/>
          <p:nvPr/>
        </p:nvSpPr>
        <p:spPr>
          <a:xfrm>
            <a:off x="5065776" y="1828800"/>
            <a:ext cx="2057400" cy="64008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Synonym / alias resolution</a:t>
            </a:r>
            <a:endParaRPr lang="en-US" sz="1050" dirty="0"/>
          </a:p>
        </p:txBody>
      </p:sp>
      <p:sp>
        <p:nvSpPr>
          <p:cNvPr id="12" name="Text 10"/>
          <p:cNvSpPr/>
          <p:nvPr/>
        </p:nvSpPr>
        <p:spPr>
          <a:xfrm>
            <a:off x="7123176" y="1828800"/>
            <a:ext cx="137160" cy="64008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3" name="Shape 11"/>
          <p:cNvSpPr/>
          <p:nvPr/>
        </p:nvSpPr>
        <p:spPr>
          <a:xfrm>
            <a:off x="7260336" y="1828800"/>
            <a:ext cx="2057400" cy="640080"/>
          </a:xfrm>
          <a:prstGeom prst="roundRect">
            <a:avLst>
              <a:gd name="adj" fmla="val 8571"/>
            </a:avLst>
          </a:prstGeom>
          <a:solidFill>
            <a:srgbClr val="FFFFFF"/>
          </a:solidFill>
          <a:ln w="15875">
            <a:solidFill>
              <a:srgbClr val="E2E6EC"/>
            </a:solidFill>
            <a:prstDash val="solid"/>
          </a:ln>
        </p:spPr>
      </p:sp>
      <p:sp>
        <p:nvSpPr>
          <p:cNvPr id="14" name="Text 12"/>
          <p:cNvSpPr/>
          <p:nvPr/>
        </p:nvSpPr>
        <p:spPr>
          <a:xfrm>
            <a:off x="7260336" y="1828800"/>
            <a:ext cx="2057400" cy="64008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Constraint validation</a:t>
            </a:r>
            <a:endParaRPr lang="en-US" sz="1050" dirty="0"/>
          </a:p>
        </p:txBody>
      </p:sp>
      <p:sp>
        <p:nvSpPr>
          <p:cNvPr id="15" name="Text 13"/>
          <p:cNvSpPr/>
          <p:nvPr/>
        </p:nvSpPr>
        <p:spPr>
          <a:xfrm>
            <a:off x="9317736" y="1828800"/>
            <a:ext cx="137160" cy="64008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16" name="Shape 14"/>
          <p:cNvSpPr/>
          <p:nvPr/>
        </p:nvSpPr>
        <p:spPr>
          <a:xfrm>
            <a:off x="9454896" y="1828800"/>
            <a:ext cx="2057400" cy="640080"/>
          </a:xfrm>
          <a:prstGeom prst="roundRect">
            <a:avLst>
              <a:gd name="adj" fmla="val 8571"/>
            </a:avLst>
          </a:prstGeom>
          <a:solidFill>
            <a:srgbClr val="1D5FD6"/>
          </a:solidFill>
          <a:ln w="15875">
            <a:solidFill>
              <a:srgbClr val="1D5FD6"/>
            </a:solidFill>
            <a:prstDash val="solid"/>
          </a:ln>
        </p:spPr>
      </p:sp>
      <p:sp>
        <p:nvSpPr>
          <p:cNvPr id="17" name="Text 15"/>
          <p:cNvSpPr/>
          <p:nvPr/>
        </p:nvSpPr>
        <p:spPr>
          <a:xfrm>
            <a:off x="9454896" y="1828800"/>
            <a:ext cx="205740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Canonical LOV value</a:t>
            </a:r>
            <a:endParaRPr lang="en-US" sz="1050" dirty="0"/>
          </a:p>
        </p:txBody>
      </p:sp>
      <p:sp>
        <p:nvSpPr>
          <p:cNvPr id="18" name="Text 16"/>
          <p:cNvSpPr/>
          <p:nvPr/>
        </p:nvSpPr>
        <p:spPr>
          <a:xfrm>
            <a:off x="548640" y="2971800"/>
            <a:ext cx="10789920" cy="3200400"/>
          </a:xfrm>
          <a:prstGeom prst="rect">
            <a:avLst/>
          </a:prstGeom>
          <a:noFill/>
          <a:ln/>
        </p:spPr>
        <p:txBody>
          <a:bodyPr wrap="square" lIns="0" tIns="0" rIns="0" bIns="0" rtlCol="0" anchor="t"/>
          <a:lstStyle/>
          <a:p>
            <a:pPr marL="228600" indent="-228600">
              <a:spcAft>
                <a:spcPts val="1600"/>
              </a:spcAft>
              <a:buSzPct val="100000"/>
              <a:buChar char="▪"/>
            </a:pPr>
            <a:r>
              <a:rPr lang="en-US" sz="1500" dirty="0">
                <a:solidFill>
                  <a:srgbClr val="1A2233"/>
                </a:solidFill>
                <a:latin typeface="Calibri" pitchFamily="34" charset="0"/>
                <a:ea typeface="Calibri" pitchFamily="34" charset="-122"/>
                <a:cs typeface="Calibri" pitchFamily="34" charset="-120"/>
              </a:rPr>
              <a:t>Every attribute's allowed values come from a controlled vocabulary keyed to its classpath — not free text</a:t>
            </a:r>
            <a:endParaRPr lang="en-US" sz="1500" dirty="0"/>
          </a:p>
          <a:p>
            <a:pPr marL="228600" indent="-228600">
              <a:spcAft>
                <a:spcPts val="1600"/>
              </a:spcAft>
              <a:buSzPct val="100000"/>
              <a:buChar char="▪"/>
            </a:pPr>
            <a:r>
              <a:rPr lang="en-US" sz="1500" dirty="0">
                <a:solidFill>
                  <a:srgbClr val="1A2233"/>
                </a:solidFill>
                <a:latin typeface="Calibri" pitchFamily="34" charset="0"/>
                <a:ea typeface="Calibri" pitchFamily="34" charset="-122"/>
                <a:cs typeface="Calibri" pitchFamily="34" charset="-120"/>
              </a:rPr>
              <a:t>Fuzzy-matched (rapidfuzz) against the approved list before acceptance; below threshold → NOT_IN_VOCABULARY, flagged</a:t>
            </a:r>
            <a:endParaRPr lang="en-US" sz="1500" dirty="0"/>
          </a:p>
          <a:p>
            <a:pPr marL="228600" indent="-228600">
              <a:spcAft>
                <a:spcPts val="1600"/>
              </a:spcAft>
              <a:buSzPct val="100000"/>
              <a:buChar char="▪"/>
            </a:pPr>
            <a:r>
              <a:rPr lang="en-US" sz="1500" dirty="0">
                <a:solidFill>
                  <a:srgbClr val="1A2233"/>
                </a:solidFill>
                <a:latin typeface="Calibri" pitchFamily="34" charset="0"/>
                <a:ea typeface="Calibri" pitchFamily="34" charset="-122"/>
                <a:cs typeface="Calibri" pitchFamily="34" charset="-120"/>
              </a:rPr>
              <a:t>Non-enumerated attributes (e.g. Series, Model) pass through with NO_CONSTRAINT — the engine never blocks legitimate free text it has no authority over</a:t>
            </a:r>
            <a:endParaRPr lang="en-US" sz="1500" dirty="0"/>
          </a:p>
          <a:p>
            <a:pPr marL="228600" indent="-228600">
              <a:spcAft>
                <a:spcPts val="1600"/>
              </a:spcAft>
              <a:buSzPct val="100000"/>
              <a:buChar char="▪"/>
            </a:pPr>
            <a:r>
              <a:rPr lang="en-US" sz="1500" dirty="0">
                <a:solidFill>
                  <a:srgbClr val="1A2233"/>
                </a:solidFill>
                <a:latin typeface="Calibri" pitchFamily="34" charset="0"/>
                <a:ea typeface="Calibri" pitchFamily="34" charset="-122"/>
                <a:cs typeface="Calibri" pitchFamily="34" charset="-120"/>
              </a:rPr>
              <a:t>Every normalized value is traceable back to the specific LOV row that approved it</a:t>
            </a:r>
            <a:endParaRPr lang="en-US" sz="1500" dirty="0"/>
          </a:p>
        </p:txBody>
      </p:sp>
      <p:sp>
        <p:nvSpPr>
          <p:cNvPr id="19" name="Text 17"/>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08 / 20</a:t>
            </a:r>
            <a:endParaRPr lang="en-US" sz="900" dirty="0"/>
          </a:p>
        </p:txBody>
      </p:sp>
      <p:sp>
        <p:nvSpPr>
          <p:cNvPr id="20" name="Text 18"/>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HYBRID AI &amp; MODEL ROUTING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Deterministic first. LLM only where reasoning earns its cost</a:t>
            </a:r>
            <a:endParaRPr lang="en-US" sz="3000" dirty="0"/>
          </a:p>
        </p:txBody>
      </p:sp>
      <p:sp>
        <p:nvSpPr>
          <p:cNvPr id="4" name="Shape 2"/>
          <p:cNvSpPr/>
          <p:nvPr/>
        </p:nvSpPr>
        <p:spPr>
          <a:xfrm>
            <a:off x="548640" y="1691640"/>
            <a:ext cx="5303520" cy="2834640"/>
          </a:xfrm>
          <a:prstGeom prst="roundRect">
            <a:avLst>
              <a:gd name="adj" fmla="val 2581"/>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822960" y="1874520"/>
            <a:ext cx="4754880" cy="36576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Never LLM</a:t>
            </a:r>
            <a:endParaRPr lang="en-US" sz="1500" dirty="0"/>
          </a:p>
        </p:txBody>
      </p:sp>
      <p:sp>
        <p:nvSpPr>
          <p:cNvPr id="6" name="Text 4"/>
          <p:cNvSpPr/>
          <p:nvPr/>
        </p:nvSpPr>
        <p:spPr>
          <a:xfrm>
            <a:off x="822960" y="2331720"/>
            <a:ext cx="4754880" cy="2103120"/>
          </a:xfrm>
          <a:prstGeom prst="rect">
            <a:avLst/>
          </a:prstGeom>
          <a:noFill/>
          <a:ln/>
        </p:spPr>
        <p:txBody>
          <a:bodyPr wrap="square" lIns="0" tIns="0" rIns="0" bIns="0" rtlCol="0" anchor="t"/>
          <a:lstStyle/>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Casing &amp; punctuation</a:t>
            </a:r>
            <a:endParaRPr lang="en-US" sz="1250" dirty="0"/>
          </a:p>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UOM conversion (table lookup)</a:t>
            </a:r>
            <a:endParaRPr lang="en-US" sz="1250" dirty="0"/>
          </a:p>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Fraction lookup (exact math)</a:t>
            </a:r>
            <a:endParaRPr lang="en-US" sz="1250" dirty="0"/>
          </a:p>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Basic format validation</a:t>
            </a:r>
            <a:endParaRPr lang="en-US" sz="1250" dirty="0"/>
          </a:p>
        </p:txBody>
      </p:sp>
      <p:sp>
        <p:nvSpPr>
          <p:cNvPr id="7" name="Shape 5"/>
          <p:cNvSpPr/>
          <p:nvPr/>
        </p:nvSpPr>
        <p:spPr>
          <a:xfrm>
            <a:off x="6126480" y="1691640"/>
            <a:ext cx="5303520" cy="2834640"/>
          </a:xfrm>
          <a:prstGeom prst="roundRect">
            <a:avLst>
              <a:gd name="adj" fmla="val 2581"/>
            </a:avLst>
          </a:prstGeom>
          <a:solidFill>
            <a:srgbClr val="E8F0FE"/>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8" name="Text 6"/>
          <p:cNvSpPr/>
          <p:nvPr/>
        </p:nvSpPr>
        <p:spPr>
          <a:xfrm>
            <a:off x="6400800" y="1874520"/>
            <a:ext cx="4754880" cy="365760"/>
          </a:xfrm>
          <a:prstGeom prst="rect">
            <a:avLst/>
          </a:prstGeom>
          <a:noFill/>
          <a:ln/>
        </p:spPr>
        <p:txBody>
          <a:bodyPr wrap="square" lIns="0" tIns="0" rIns="0" bIns="0" rtlCol="0" anchor="ctr"/>
          <a:lstStyle/>
          <a:p>
            <a:pPr indent="0" marL="0">
              <a:buNone/>
            </a:pPr>
            <a:r>
              <a:rPr lang="en-US" sz="1500" b="1" dirty="0">
                <a:solidFill>
                  <a:srgbClr val="1D5FD6"/>
                </a:solidFill>
                <a:latin typeface="Calibri" pitchFamily="34" charset="0"/>
                <a:ea typeface="Calibri" pitchFamily="34" charset="-122"/>
                <a:cs typeface="Calibri" pitchFamily="34" charset="-120"/>
              </a:rPr>
              <a:t>LLM as adjudicator</a:t>
            </a:r>
            <a:endParaRPr lang="en-US" sz="1500" dirty="0"/>
          </a:p>
        </p:txBody>
      </p:sp>
      <p:sp>
        <p:nvSpPr>
          <p:cNvPr id="9" name="Text 7"/>
          <p:cNvSpPr/>
          <p:nvPr/>
        </p:nvSpPr>
        <p:spPr>
          <a:xfrm>
            <a:off x="6400800" y="2331720"/>
            <a:ext cx="4754880" cy="2103120"/>
          </a:xfrm>
          <a:prstGeom prst="rect">
            <a:avLst/>
          </a:prstGeom>
          <a:noFill/>
          <a:ln/>
        </p:spPr>
        <p:txBody>
          <a:bodyPr wrap="square" lIns="0" tIns="0" rIns="0" bIns="0" rtlCol="0" anchor="t"/>
          <a:lstStyle/>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Ambiguous classification</a:t>
            </a:r>
            <a:endParaRPr lang="en-US" sz="1250" dirty="0"/>
          </a:p>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Complex attribute extraction</a:t>
            </a:r>
            <a:endParaRPr lang="en-US" sz="1250" dirty="0"/>
          </a:p>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Entity-resolution tie-breaks</a:t>
            </a:r>
            <a:endParaRPr lang="en-US" sz="1250" dirty="0"/>
          </a:p>
          <a:p>
            <a:pPr marL="228600" indent="-2286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Conflict resolution between sources</a:t>
            </a:r>
            <a:endParaRPr lang="en-US" sz="1250" dirty="0"/>
          </a:p>
        </p:txBody>
      </p:sp>
      <p:sp>
        <p:nvSpPr>
          <p:cNvPr id="10" name="Shape 8"/>
          <p:cNvSpPr/>
          <p:nvPr/>
        </p:nvSpPr>
        <p:spPr>
          <a:xfrm>
            <a:off x="548640" y="4754880"/>
            <a:ext cx="10881360" cy="1371600"/>
          </a:xfrm>
          <a:prstGeom prst="roundRect">
            <a:avLst>
              <a:gd name="adj" fmla="val 5333"/>
            </a:avLst>
          </a:prstGeom>
          <a:solidFill>
            <a:srgbClr val="111827"/>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1" name="Text 9"/>
          <p:cNvSpPr/>
          <p:nvPr/>
        </p:nvSpPr>
        <p:spPr>
          <a:xfrm>
            <a:off x="868680" y="4919472"/>
            <a:ext cx="10241280" cy="1051560"/>
          </a:xfrm>
          <a:prstGeom prst="rect">
            <a:avLst/>
          </a:prstGeom>
          <a:noFill/>
          <a:ln/>
        </p:spPr>
        <p:txBody>
          <a:bodyPr wrap="square" lIns="0" tIns="0" rIns="0" bIns="0" rtlCol="0" anchor="t"/>
          <a:lstStyle/>
          <a:p>
            <a:pPr indent="0" marL="0">
              <a:lnSpc>
                <a:spcPct val="130000"/>
              </a:lnSpc>
              <a:buNone/>
            </a:pPr>
            <a:r>
              <a:rPr lang="en-US" sz="1300" b="1" dirty="0">
                <a:solidFill>
                  <a:srgbClr val="6FA1FF"/>
                </a:solidFill>
                <a:latin typeface="Calibri" pitchFamily="34" charset="0"/>
                <a:ea typeface="Calibri" pitchFamily="34" charset="-122"/>
                <a:cs typeface="Calibri" pitchFamily="34" charset="-120"/>
              </a:rPr>
              <a:t>Provider abstraction:  </a:t>
            </a:r>
            <a:pPr indent="0" marL="0">
              <a:lnSpc>
                <a:spcPct val="130000"/>
              </a:lnSpc>
              <a:buNone/>
            </a:pPr>
            <a:r>
              <a:rPr lang="en-US" sz="1300" dirty="0">
                <a:solidFill>
                  <a:srgbClr val="D6DCEA"/>
                </a:solidFill>
                <a:latin typeface="Calibri" pitchFamily="34" charset="0"/>
                <a:ea typeface="Calibri" pitchFamily="34" charset="-122"/>
                <a:cs typeface="Calibri" pitchFamily="34" charset="-120"/>
              </a:rPr>
              <a:t>MockProvider (deterministic, offline, zero network calls) and ClaudeProvider share one interface, selected by APP_MODE. The entire pipeline, API, and 43-test suite run — and this deck's metrics were generated — with APP_MODE=mock. No credentials required to reproduce any number in this deck.</a:t>
            </a:r>
            <a:endParaRPr lang="en-US" sz="1300" dirty="0"/>
          </a:p>
        </p:txBody>
      </p:sp>
      <p:sp>
        <p:nvSpPr>
          <p:cNvPr id="12" name="Text 10"/>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09 / 20</a:t>
            </a:r>
            <a:endParaRPr lang="en-US" sz="900" dirty="0"/>
          </a:p>
        </p:txBody>
      </p:sp>
      <p:sp>
        <p:nvSpPr>
          <p:cNvPr id="13" name="Text 11"/>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STRUCTURED EXTRACTION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Two stages: extract what's stated, normalize separately</a:t>
            </a:r>
            <a:endParaRPr lang="en-US" sz="3000" dirty="0"/>
          </a:p>
        </p:txBody>
      </p:sp>
      <p:sp>
        <p:nvSpPr>
          <p:cNvPr id="4" name="Shape 2"/>
          <p:cNvSpPr/>
          <p:nvPr/>
        </p:nvSpPr>
        <p:spPr>
          <a:xfrm>
            <a:off x="790956" y="1691640"/>
            <a:ext cx="5120640" cy="594360"/>
          </a:xfrm>
          <a:prstGeom prst="roundRect">
            <a:avLst>
              <a:gd name="adj" fmla="val 9231"/>
            </a:avLst>
          </a:prstGeom>
          <a:solidFill>
            <a:srgbClr val="FFFFFF"/>
          </a:solidFill>
          <a:ln w="15875">
            <a:solidFill>
              <a:srgbClr val="E2E6EC"/>
            </a:solidFill>
            <a:prstDash val="solid"/>
          </a:ln>
        </p:spPr>
      </p:sp>
      <p:sp>
        <p:nvSpPr>
          <p:cNvPr id="5" name="Text 3"/>
          <p:cNvSpPr/>
          <p:nvPr/>
        </p:nvSpPr>
        <p:spPr>
          <a:xfrm>
            <a:off x="790956" y="1691640"/>
            <a:ext cx="5120640" cy="594360"/>
          </a:xfrm>
          <a:prstGeom prst="rect">
            <a:avLst/>
          </a:prstGeom>
          <a:noFill/>
          <a:ln/>
        </p:spPr>
        <p:txBody>
          <a:bodyPr wrap="square" lIns="0" tIns="0" rIns="0" bIns="0"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Stage 1 — Deterministic evidence extraction</a:t>
            </a:r>
            <a:endParaRPr lang="en-US" sz="1050" dirty="0"/>
          </a:p>
        </p:txBody>
      </p:sp>
      <p:sp>
        <p:nvSpPr>
          <p:cNvPr id="6" name="Text 4"/>
          <p:cNvSpPr/>
          <p:nvPr/>
        </p:nvSpPr>
        <p:spPr>
          <a:xfrm>
            <a:off x="5911596" y="1691640"/>
            <a:ext cx="365760" cy="594360"/>
          </a:xfrm>
          <a:prstGeom prst="rect">
            <a:avLst/>
          </a:prstGeom>
          <a:noFill/>
          <a:ln/>
        </p:spPr>
        <p:txBody>
          <a:bodyPr wrap="square" lIns="0" tIns="0" rIns="0" bIns="0" rtlCol="0" anchor="ctr"/>
          <a:lstStyle/>
          <a:p>
            <a:pPr algn="ctr" indent="0" marL="0">
              <a:buNone/>
            </a:pPr>
            <a:r>
              <a:rPr lang="en-US" sz="1400" dirty="0">
                <a:solidFill>
                  <a:srgbClr val="5B6472"/>
                </a:solidFill>
              </a:rPr>
              <a:t>→</a:t>
            </a:r>
            <a:endParaRPr lang="en-US" sz="1400" dirty="0"/>
          </a:p>
        </p:txBody>
      </p:sp>
      <p:sp>
        <p:nvSpPr>
          <p:cNvPr id="7" name="Shape 5"/>
          <p:cNvSpPr/>
          <p:nvPr/>
        </p:nvSpPr>
        <p:spPr>
          <a:xfrm>
            <a:off x="6277356" y="1691640"/>
            <a:ext cx="5120640" cy="594360"/>
          </a:xfrm>
          <a:prstGeom prst="roundRect">
            <a:avLst>
              <a:gd name="adj" fmla="val 9231"/>
            </a:avLst>
          </a:prstGeom>
          <a:solidFill>
            <a:srgbClr val="1D5FD6"/>
          </a:solidFill>
          <a:ln w="15875">
            <a:solidFill>
              <a:srgbClr val="1D5FD6"/>
            </a:solidFill>
            <a:prstDash val="solid"/>
          </a:ln>
        </p:spPr>
      </p:sp>
      <p:sp>
        <p:nvSpPr>
          <p:cNvPr id="8" name="Text 6"/>
          <p:cNvSpPr/>
          <p:nvPr/>
        </p:nvSpPr>
        <p:spPr>
          <a:xfrm>
            <a:off x="6277356" y="1691640"/>
            <a:ext cx="512064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Stage 2 — Canonical normalization</a:t>
            </a:r>
            <a:endParaRPr lang="en-US" sz="1050" dirty="0"/>
          </a:p>
        </p:txBody>
      </p:sp>
      <p:sp>
        <p:nvSpPr>
          <p:cNvPr id="9" name="Shape 7"/>
          <p:cNvSpPr/>
          <p:nvPr/>
        </p:nvSpPr>
        <p:spPr>
          <a:xfrm>
            <a:off x="548640" y="2697480"/>
            <a:ext cx="10881360" cy="3383280"/>
          </a:xfrm>
          <a:prstGeom prst="roundRect">
            <a:avLst>
              <a:gd name="adj" fmla="val 2162"/>
            </a:avLst>
          </a:prstGeom>
          <a:solidFill>
            <a:srgbClr val="1A2233"/>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0" name="Text 8"/>
          <p:cNvSpPr/>
          <p:nvPr/>
        </p:nvSpPr>
        <p:spPr>
          <a:xfrm>
            <a:off x="868680" y="2880360"/>
            <a:ext cx="4572000" cy="274320"/>
          </a:xfrm>
          <a:prstGeom prst="rect">
            <a:avLst/>
          </a:prstGeom>
          <a:noFill/>
          <a:ln/>
        </p:spPr>
        <p:txBody>
          <a:bodyPr wrap="square" lIns="0" tIns="0" rIns="0" bIns="0" rtlCol="0" anchor="ctr"/>
          <a:lstStyle/>
          <a:p>
            <a:pPr indent="0" marL="0">
              <a:buNone/>
            </a:pPr>
            <a:r>
              <a:rPr lang="en-US" sz="1100" b="1" spc="100" kern="0" dirty="0">
                <a:solidFill>
                  <a:srgbClr val="6FA1FF"/>
                </a:solidFill>
                <a:latin typeface="Calibri" pitchFamily="34" charset="0"/>
                <a:ea typeface="Calibri" pitchFamily="34" charset="-122"/>
                <a:cs typeface="Calibri" pitchFamily="34" charset="-120"/>
              </a:rPr>
              <a:t>LIVE EXAMPLE</a:t>
            </a:r>
            <a:endParaRPr lang="en-US" sz="1100" dirty="0"/>
          </a:p>
        </p:txBody>
      </p:sp>
      <p:sp>
        <p:nvSpPr>
          <p:cNvPr id="11" name="Text 9"/>
          <p:cNvSpPr/>
          <p:nvPr/>
        </p:nvSpPr>
        <p:spPr>
          <a:xfrm>
            <a:off x="868680" y="3200400"/>
            <a:ext cx="10058400" cy="45720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"49-94-0013 Milw 5"x.045"x7/8" Metal Cut Off Disc"</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68680" y="3840480"/>
          <a:ext cx="7772400" cy="914400"/>
        </p:xfrm>
        <a:graphic>
          <a:graphicData uri="http://schemas.openxmlformats.org/drawingml/2006/table">
            <a:tbl>
              <a:tblPr/>
              <a:tblGrid>
                <a:gridCol w="2743200"/>
                <a:gridCol w="1828800"/>
                <a:gridCol w="1554480"/>
                <a:gridCol w="1645920"/>
              </a:tblGrid>
              <a:tr h="384048">
                <a:tc>
                  <a:txBody>
                    <a:bodyPr/>
                    <a:lstStyle/>
                    <a:p>
                      <a:pPr indent="0" marL="0">
                        <a:buNone/>
                      </a:pPr>
                      <a:r>
                        <a:rPr lang="en-US" sz="1100" b="1" dirty="0">
                          <a:solidFill>
                            <a:srgbClr val="8F9BB3"/>
                          </a:solidFill>
                        </a:rPr>
                        <a:t>Attribute</a:t>
                      </a:r>
                      <a:endParaRPr lang="en-US" sz="11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100" b="1" dirty="0">
                          <a:solidFill>
                            <a:srgbClr val="8F9BB3"/>
                          </a:solidFill>
                        </a:rPr>
                        <a:t>Value</a:t>
                      </a:r>
                      <a:endParaRPr lang="en-US" sz="11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100" b="1" dirty="0">
                          <a:solidFill>
                            <a:srgbClr val="8F9BB3"/>
                          </a:solidFill>
                        </a:rPr>
                        <a:t>UOM</a:t>
                      </a:r>
                      <a:endParaRPr lang="en-US" sz="11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100" b="1" dirty="0">
                          <a:solidFill>
                            <a:srgbClr val="8F9BB3"/>
                          </a:solidFill>
                        </a:rPr>
                        <a:t>Provenance</a:t>
                      </a:r>
                      <a:endParaRPr lang="en-US" sz="11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r>
              <a:tr h="384048">
                <a:tc>
                  <a:txBody>
                    <a:bodyPr/>
                    <a:lstStyle/>
                    <a:p>
                      <a:pPr indent="0" marL="0">
                        <a:buNone/>
                      </a:pPr>
                      <a:r>
                        <a:rPr lang="en-US" sz="1300" dirty="0">
                          <a:solidFill>
                            <a:srgbClr val="FFFFFF"/>
                          </a:solidFill>
                        </a:rPr>
                        <a:t>Diameter</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dirty="0">
                          <a:solidFill>
                            <a:srgbClr val="FFFFFF"/>
                          </a:solidFill>
                        </a:rPr>
                        <a:t>5</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dirty="0">
                          <a:solidFill>
                            <a:srgbClr val="FFFFFF"/>
                          </a:solidFill>
                        </a:rPr>
                        <a:t>in</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b="1" dirty="0">
                          <a:solidFill>
                            <a:srgbClr val="6FE0A8"/>
                          </a:solidFill>
                        </a:rPr>
                        <a:t>DIRECT</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r>
              <a:tr h="384048">
                <a:tc>
                  <a:txBody>
                    <a:bodyPr/>
                    <a:lstStyle/>
                    <a:p>
                      <a:pPr indent="0" marL="0">
                        <a:buNone/>
                      </a:pPr>
                      <a:r>
                        <a:rPr lang="en-US" sz="1300" dirty="0">
                          <a:solidFill>
                            <a:srgbClr val="FFFFFF"/>
                          </a:solidFill>
                        </a:rPr>
                        <a:t>Thickness</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dirty="0">
                          <a:solidFill>
                            <a:srgbClr val="FFFFFF"/>
                          </a:solidFill>
                        </a:rPr>
                        <a:t>.045</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dirty="0">
                          <a:solidFill>
                            <a:srgbClr val="FFFFFF"/>
                          </a:solidFill>
                        </a:rPr>
                        <a:t>in</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b="1" dirty="0">
                          <a:solidFill>
                            <a:srgbClr val="6FE0A8"/>
                          </a:solidFill>
                        </a:rPr>
                        <a:t>DIRECT</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r>
              <a:tr h="384048">
                <a:tc>
                  <a:txBody>
                    <a:bodyPr/>
                    <a:lstStyle/>
                    <a:p>
                      <a:pPr indent="0" marL="0">
                        <a:buNone/>
                      </a:pPr>
                      <a:r>
                        <a:rPr lang="en-US" sz="1300" dirty="0">
                          <a:solidFill>
                            <a:srgbClr val="FFFFFF"/>
                          </a:solidFill>
                        </a:rPr>
                        <a:t>Arbor / Bore Size</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dirty="0">
                          <a:solidFill>
                            <a:srgbClr val="FFFFFF"/>
                          </a:solidFill>
                        </a:rPr>
                        <a:t>7/8</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dirty="0">
                          <a:solidFill>
                            <a:srgbClr val="FFFFFF"/>
                          </a:solidFill>
                        </a:rPr>
                        <a:t>in</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c>
                  <a:txBody>
                    <a:bodyPr/>
                    <a:lstStyle/>
                    <a:p>
                      <a:pPr indent="0" marL="0">
                        <a:buNone/>
                      </a:pPr>
                      <a:r>
                        <a:rPr lang="en-US" sz="1300" b="1" dirty="0">
                          <a:solidFill>
                            <a:srgbClr val="6FE0A8"/>
                          </a:solidFill>
                        </a:rPr>
                        <a:t>DIRECT</a:t>
                      </a:r>
                      <a:endParaRPr lang="en-US" sz="1300" dirty="0"/>
                    </a:p>
                  </a:txBody>
                  <a:tcPr marL="101600" marR="101600" marT="25400" marB="25400" anchor="ctr">
                    <a:lnL w="6350" cap="flat" cmpd="sng" algn="ctr">
                      <a:solidFill>
                        <a:srgbClr val="2A3A66"/>
                      </a:solidFill>
                      <a:prstDash val="solid"/>
                      <a:round/>
                      <a:headEnd type="none" w="med" len="med"/>
                      <a:tailEnd type="none" w="med" len="med"/>
                    </a:lnL>
                    <a:lnR w="6350" cap="flat" cmpd="sng" algn="ctr">
                      <a:solidFill>
                        <a:srgbClr val="2A3A66"/>
                      </a:solidFill>
                      <a:prstDash val="solid"/>
                      <a:round/>
                      <a:headEnd type="none" w="med" len="med"/>
                      <a:tailEnd type="none" w="med" len="med"/>
                    </a:lnR>
                    <a:lnT w="6350" cap="flat" cmpd="sng" algn="ctr">
                      <a:solidFill>
                        <a:srgbClr val="2A3A66"/>
                      </a:solidFill>
                      <a:prstDash val="solid"/>
                      <a:round/>
                      <a:headEnd type="none" w="med" len="med"/>
                      <a:tailEnd type="none" w="med" len="med"/>
                    </a:lnT>
                    <a:lnB w="6350" cap="flat" cmpd="sng" algn="ctr">
                      <a:solidFill>
                        <a:srgbClr val="2A3A66"/>
                      </a:solidFill>
                      <a:prstDash val="solid"/>
                      <a:round/>
                      <a:headEnd type="none" w="med" len="med"/>
                      <a:tailEnd type="none" w="med" len="med"/>
                    </a:lnB>
                    <a:solidFill>
                      <a:srgbClr val="1A2244"/>
                    </a:solidFill>
                  </a:tcPr>
                </a:tc>
              </a:tr>
            </a:tbl>
          </a:graphicData>
        </a:graphic>
      </p:graphicFrame>
      <p:sp>
        <p:nvSpPr>
          <p:cNvPr id="13" name="Text 10"/>
          <p:cNvSpPr/>
          <p:nvPr/>
        </p:nvSpPr>
        <p:spPr>
          <a:xfrm>
            <a:off x="868680" y="5532120"/>
            <a:ext cx="10241280" cy="502920"/>
          </a:xfrm>
          <a:prstGeom prst="rect">
            <a:avLst/>
          </a:prstGeom>
          <a:noFill/>
          <a:ln/>
        </p:spPr>
        <p:txBody>
          <a:bodyPr wrap="square" lIns="0" tIns="0" rIns="0" bIns="0" rtlCol="0" anchor="ctr"/>
          <a:lstStyle/>
          <a:p>
            <a:pPr indent="0" marL="0">
              <a:buNone/>
            </a:pPr>
            <a:r>
              <a:rPr lang="en-US" sz="1150" i="1" dirty="0">
                <a:solidFill>
                  <a:srgbClr val="C6CEDD"/>
                </a:solidFill>
                <a:latin typeface="Calibri" pitchFamily="34" charset="0"/>
                <a:ea typeface="Calibri" pitchFamily="34" charset="-122"/>
                <a:cs typeface="Calibri" pitchFamily="34" charset="-120"/>
              </a:rPr>
              <a:t>Only claims explicitly present in the text are extracted — nothing is inferred at this stage. If a value isn't there, the attribute is reported UNKNOWN downstream, never guessed.</a:t>
            </a:r>
            <a:endParaRPr lang="en-US" sz="1150" dirty="0"/>
          </a:p>
        </p:txBody>
      </p:sp>
      <p:sp>
        <p:nvSpPr>
          <p:cNvPr id="14" name="Text 11"/>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 / 20</a:t>
            </a:r>
            <a:endParaRPr lang="en-US" sz="900" dirty="0"/>
          </a:p>
        </p:txBody>
      </p:sp>
      <p:sp>
        <p:nvSpPr>
          <p:cNvPr id="15" name="Text 12"/>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NORMALIZATION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UOM and fractions: table lookups, not guesses</a:t>
            </a:r>
            <a:endParaRPr lang="en-US" sz="3000" dirty="0"/>
          </a:p>
        </p:txBody>
      </p:sp>
      <p:sp>
        <p:nvSpPr>
          <p:cNvPr id="4" name="Shape 2"/>
          <p:cNvSpPr/>
          <p:nvPr/>
        </p:nvSpPr>
        <p:spPr>
          <a:xfrm>
            <a:off x="548640" y="1691640"/>
            <a:ext cx="5303520" cy="3017520"/>
          </a:xfrm>
          <a:prstGeom prst="roundRect">
            <a:avLst>
              <a:gd name="adj" fmla="val 2424"/>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822960" y="1874520"/>
            <a:ext cx="4754880"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UOM Engine</a:t>
            </a:r>
            <a:endParaRPr lang="en-US" sz="1600" dirty="0"/>
          </a:p>
        </p:txBody>
      </p:sp>
      <p:sp>
        <p:nvSpPr>
          <p:cNvPr id="6" name="Text 4"/>
          <p:cNvSpPr/>
          <p:nvPr/>
        </p:nvSpPr>
        <p:spPr>
          <a:xfrm>
            <a:off x="822960" y="2331720"/>
            <a:ext cx="4754880" cy="502920"/>
          </a:xfrm>
          <a:prstGeom prst="rect">
            <a:avLst/>
          </a:prstGeom>
          <a:noFill/>
          <a:ln/>
        </p:spPr>
        <p:txBody>
          <a:bodyPr wrap="square" lIns="0" tIns="0" rIns="0" bIns="0" rtlCol="0" anchor="ctr"/>
          <a:lstStyle/>
          <a:p>
            <a:pPr indent="0" marL="0">
              <a:buNone/>
            </a:pPr>
            <a:r>
              <a:rPr lang="en-US" sz="1400" b="1" dirty="0">
                <a:solidFill>
                  <a:srgbClr val="1D5FD6"/>
                </a:solidFill>
                <a:latin typeface="Courier New" pitchFamily="34" charset="0"/>
                <a:ea typeface="Courier New" pitchFamily="34" charset="-122"/>
                <a:cs typeface="Courier New" pitchFamily="34" charset="-120"/>
              </a:rPr>
              <a:t>"inches" / "IN." / '"' → in</a:t>
            </a:r>
            <a:endParaRPr lang="en-US" sz="1400" dirty="0"/>
          </a:p>
        </p:txBody>
      </p:sp>
      <p:sp>
        <p:nvSpPr>
          <p:cNvPr id="7" name="Text 5"/>
          <p:cNvSpPr/>
          <p:nvPr/>
        </p:nvSpPr>
        <p:spPr>
          <a:xfrm>
            <a:off x="822960" y="2898648"/>
            <a:ext cx="4754880" cy="502920"/>
          </a:xfrm>
          <a:prstGeom prst="rect">
            <a:avLst/>
          </a:prstGeom>
          <a:noFill/>
          <a:ln/>
        </p:spPr>
        <p:txBody>
          <a:bodyPr wrap="square" lIns="0" tIns="0" rIns="0" bIns="0" rtlCol="0" anchor="ctr"/>
          <a:lstStyle/>
          <a:p>
            <a:pPr indent="0" marL="0">
              <a:buNone/>
            </a:pPr>
            <a:r>
              <a:rPr lang="en-US" sz="1400" b="1" dirty="0">
                <a:solidFill>
                  <a:srgbClr val="1D5FD6"/>
                </a:solidFill>
                <a:latin typeface="Courier New" pitchFamily="34" charset="0"/>
                <a:ea typeface="Courier New" pitchFamily="34" charset="-122"/>
                <a:cs typeface="Courier New" pitchFamily="34" charset="-120"/>
              </a:rPr>
              <a:t>"volts" → V</a:t>
            </a:r>
            <a:endParaRPr lang="en-US" sz="1400" dirty="0"/>
          </a:p>
        </p:txBody>
      </p:sp>
      <p:sp>
        <p:nvSpPr>
          <p:cNvPr id="8" name="Text 6"/>
          <p:cNvSpPr/>
          <p:nvPr/>
        </p:nvSpPr>
        <p:spPr>
          <a:xfrm>
            <a:off x="822960" y="3465576"/>
            <a:ext cx="4754880" cy="502920"/>
          </a:xfrm>
          <a:prstGeom prst="rect">
            <a:avLst/>
          </a:prstGeom>
          <a:noFill/>
          <a:ln/>
        </p:spPr>
        <p:txBody>
          <a:bodyPr wrap="square" lIns="0" tIns="0" rIns="0" bIns="0" rtlCol="0" anchor="ctr"/>
          <a:lstStyle/>
          <a:p>
            <a:pPr indent="0" marL="0">
              <a:buNone/>
            </a:pPr>
            <a:r>
              <a:rPr lang="en-US" sz="1400" b="1" dirty="0">
                <a:solidFill>
                  <a:srgbClr val="1D5FD6"/>
                </a:solidFill>
                <a:latin typeface="Courier New" pitchFamily="34" charset="0"/>
                <a:ea typeface="Courier New" pitchFamily="34" charset="-122"/>
                <a:cs typeface="Courier New" pitchFamily="34" charset="-120"/>
              </a:rPr>
              <a:t>Always a space: 24 in, not 24in</a:t>
            </a:r>
            <a:endParaRPr lang="en-US" sz="1400" dirty="0"/>
          </a:p>
        </p:txBody>
      </p:sp>
      <p:sp>
        <p:nvSpPr>
          <p:cNvPr id="9" name="Text 7"/>
          <p:cNvSpPr/>
          <p:nvPr/>
        </p:nvSpPr>
        <p:spPr>
          <a:xfrm>
            <a:off x="822960" y="4032504"/>
            <a:ext cx="4754880" cy="502920"/>
          </a:xfrm>
          <a:prstGeom prst="rect">
            <a:avLst/>
          </a:prstGeom>
          <a:noFill/>
          <a:ln/>
        </p:spPr>
        <p:txBody>
          <a:bodyPr wrap="square" lIns="0" tIns="0" rIns="0" bIns="0" rtlCol="0" anchor="ctr"/>
          <a:lstStyle/>
          <a:p>
            <a:pPr indent="0" marL="0">
              <a:buNone/>
            </a:pPr>
            <a:r>
              <a:rPr lang="en-US" sz="1400" i="1" dirty="0">
                <a:solidFill>
                  <a:srgbClr val="5B6472"/>
                </a:solidFill>
                <a:latin typeface="Courier New" pitchFamily="34" charset="0"/>
                <a:ea typeface="Courier New" pitchFamily="34" charset="-122"/>
                <a:cs typeface="Courier New" pitchFamily="34" charset="-120"/>
              </a:rPr>
              <a:t>150 lb rating → 150#  (unspaced by rule)</a:t>
            </a:r>
            <a:endParaRPr lang="en-US" sz="1400" dirty="0"/>
          </a:p>
        </p:txBody>
      </p:sp>
      <p:sp>
        <p:nvSpPr>
          <p:cNvPr id="10" name="Shape 8"/>
          <p:cNvSpPr/>
          <p:nvPr/>
        </p:nvSpPr>
        <p:spPr>
          <a:xfrm>
            <a:off x="6126480" y="1691640"/>
            <a:ext cx="5303520" cy="3017520"/>
          </a:xfrm>
          <a:prstGeom prst="roundRect">
            <a:avLst>
              <a:gd name="adj" fmla="val 2424"/>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1" name="Text 9"/>
          <p:cNvSpPr/>
          <p:nvPr/>
        </p:nvSpPr>
        <p:spPr>
          <a:xfrm>
            <a:off x="6400800" y="1874520"/>
            <a:ext cx="4754880" cy="36576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Fraction Engine</a:t>
            </a:r>
            <a:endParaRPr lang="en-US" sz="1600" dirty="0"/>
          </a:p>
        </p:txBody>
      </p:sp>
      <p:sp>
        <p:nvSpPr>
          <p:cNvPr id="12" name="Text 10"/>
          <p:cNvSpPr/>
          <p:nvPr/>
        </p:nvSpPr>
        <p:spPr>
          <a:xfrm>
            <a:off x="6400800" y="2331720"/>
            <a:ext cx="4754880" cy="502920"/>
          </a:xfrm>
          <a:prstGeom prst="rect">
            <a:avLst/>
          </a:prstGeom>
          <a:noFill/>
          <a:ln/>
        </p:spPr>
        <p:txBody>
          <a:bodyPr wrap="square" lIns="0" tIns="0" rIns="0" bIns="0" rtlCol="0" anchor="ctr"/>
          <a:lstStyle/>
          <a:p>
            <a:pPr indent="0" marL="0">
              <a:buNone/>
            </a:pPr>
            <a:r>
              <a:rPr lang="en-US" sz="1400" b="1" dirty="0">
                <a:solidFill>
                  <a:srgbClr val="1D5FD6"/>
                </a:solidFill>
                <a:latin typeface="Courier New" pitchFamily="34" charset="0"/>
                <a:ea typeface="Courier New" pitchFamily="34" charset="-122"/>
                <a:cs typeface="Courier New" pitchFamily="34" charset="-120"/>
              </a:rPr>
              <a:t>0.5 → 1/2</a:t>
            </a:r>
            <a:endParaRPr lang="en-US" sz="1400" dirty="0"/>
          </a:p>
        </p:txBody>
      </p:sp>
      <p:sp>
        <p:nvSpPr>
          <p:cNvPr id="13" name="Text 11"/>
          <p:cNvSpPr/>
          <p:nvPr/>
        </p:nvSpPr>
        <p:spPr>
          <a:xfrm>
            <a:off x="6400800" y="2898648"/>
            <a:ext cx="4754880" cy="502920"/>
          </a:xfrm>
          <a:prstGeom prst="rect">
            <a:avLst/>
          </a:prstGeom>
          <a:noFill/>
          <a:ln/>
        </p:spPr>
        <p:txBody>
          <a:bodyPr wrap="square" lIns="0" tIns="0" rIns="0" bIns="0" rtlCol="0" anchor="ctr"/>
          <a:lstStyle/>
          <a:p>
            <a:pPr indent="0" marL="0">
              <a:buNone/>
            </a:pPr>
            <a:r>
              <a:rPr lang="en-US" sz="1400" b="1" dirty="0">
                <a:solidFill>
                  <a:srgbClr val="1D5FD6"/>
                </a:solidFill>
                <a:latin typeface="Courier New" pitchFamily="34" charset="0"/>
                <a:ea typeface="Courier New" pitchFamily="34" charset="-122"/>
                <a:cs typeface="Courier New" pitchFamily="34" charset="-120"/>
              </a:rPr>
              <a:t>0.25 → 1/4</a:t>
            </a:r>
            <a:endParaRPr lang="en-US" sz="1400" dirty="0"/>
          </a:p>
        </p:txBody>
      </p:sp>
      <p:sp>
        <p:nvSpPr>
          <p:cNvPr id="14" name="Text 12"/>
          <p:cNvSpPr/>
          <p:nvPr/>
        </p:nvSpPr>
        <p:spPr>
          <a:xfrm>
            <a:off x="6400800" y="3465576"/>
            <a:ext cx="4754880" cy="502920"/>
          </a:xfrm>
          <a:prstGeom prst="rect">
            <a:avLst/>
          </a:prstGeom>
          <a:noFill/>
          <a:ln/>
        </p:spPr>
        <p:txBody>
          <a:bodyPr wrap="square" lIns="0" tIns="0" rIns="0" bIns="0" rtlCol="0" anchor="ctr"/>
          <a:lstStyle/>
          <a:p>
            <a:pPr indent="0" marL="0">
              <a:buNone/>
            </a:pPr>
            <a:r>
              <a:rPr lang="en-US" sz="1400" b="1" dirty="0">
                <a:solidFill>
                  <a:srgbClr val="1D5FD6"/>
                </a:solidFill>
                <a:latin typeface="Courier New" pitchFamily="34" charset="0"/>
                <a:ea typeface="Courier New" pitchFamily="34" charset="-122"/>
                <a:cs typeface="Courier New" pitchFamily="34" charset="-120"/>
              </a:rPr>
              <a:t>50.25 in → 50-1/4 in</a:t>
            </a:r>
            <a:endParaRPr lang="en-US" sz="1400" dirty="0"/>
          </a:p>
        </p:txBody>
      </p:sp>
      <p:sp>
        <p:nvSpPr>
          <p:cNvPr id="15" name="Text 13"/>
          <p:cNvSpPr/>
          <p:nvPr/>
        </p:nvSpPr>
        <p:spPr>
          <a:xfrm>
            <a:off x="6400800" y="4032504"/>
            <a:ext cx="4754880" cy="502920"/>
          </a:xfrm>
          <a:prstGeom prst="rect">
            <a:avLst/>
          </a:prstGeom>
          <a:noFill/>
          <a:ln/>
        </p:spPr>
        <p:txBody>
          <a:bodyPr wrap="square" lIns="0" tIns="0" rIns="0" bIns="0" rtlCol="0" anchor="ctr"/>
          <a:lstStyle/>
          <a:p>
            <a:pPr indent="0" marL="0">
              <a:buNone/>
            </a:pPr>
            <a:r>
              <a:rPr lang="en-US" sz="1400" i="1" dirty="0">
                <a:solidFill>
                  <a:srgbClr val="5B6472"/>
                </a:solidFill>
                <a:latin typeface="Courier New" pitchFamily="34" charset="0"/>
                <a:ea typeface="Courier New" pitchFamily="34" charset="-122"/>
                <a:cs typeface="Courier New" pitchFamily="34" charset="-120"/>
              </a:rPr>
              <a:t>Exact 64ths lookup — never rounded probabilistically</a:t>
            </a:r>
            <a:endParaRPr lang="en-US" sz="1400" dirty="0"/>
          </a:p>
        </p:txBody>
      </p:sp>
      <p:sp>
        <p:nvSpPr>
          <p:cNvPr id="16" name="Text 14"/>
          <p:cNvSpPr/>
          <p:nvPr/>
        </p:nvSpPr>
        <p:spPr>
          <a:xfrm>
            <a:off x="548640" y="4983480"/>
            <a:ext cx="10789920" cy="54864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Deterministic by design: the challenge is explicit that exact unit/fraction conversion should never depend on an LLM's arithmetic.</a:t>
            </a:r>
            <a:endParaRPr lang="en-US" sz="1300" dirty="0"/>
          </a:p>
        </p:txBody>
      </p:sp>
      <p:sp>
        <p:nvSpPr>
          <p:cNvPr id="17" name="Text 15"/>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 / 20</a:t>
            </a:r>
            <a:endParaRPr lang="en-US" sz="900" dirty="0"/>
          </a:p>
        </p:txBody>
      </p:sp>
      <p:sp>
        <p:nvSpPr>
          <p:cNvPr id="18" name="Text 16"/>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EVIDENCE &amp; PROVENANCE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Every claim knows where it came from</a:t>
            </a:r>
            <a:endParaRPr lang="en-US" sz="3000" dirty="0"/>
          </a:p>
        </p:txBody>
      </p:sp>
      <p:sp>
        <p:nvSpPr>
          <p:cNvPr id="4" name="Shape 2"/>
          <p:cNvSpPr/>
          <p:nvPr/>
        </p:nvSpPr>
        <p:spPr>
          <a:xfrm>
            <a:off x="548640" y="1737360"/>
            <a:ext cx="3520440" cy="868680"/>
          </a:xfrm>
          <a:prstGeom prst="roundRect">
            <a:avLst>
              <a:gd name="adj" fmla="val 8421"/>
            </a:avLst>
          </a:prstGeom>
          <a:solidFill>
            <a:srgbClr val="E8F0FE"/>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731520" y="1828800"/>
            <a:ext cx="3108960" cy="365760"/>
          </a:xfrm>
          <a:prstGeom prst="rect">
            <a:avLst/>
          </a:prstGeom>
          <a:noFill/>
          <a:ln/>
        </p:spPr>
        <p:txBody>
          <a:bodyPr wrap="square" lIns="0" tIns="0" rIns="0" bIns="0" rtlCol="0" anchor="ctr"/>
          <a:lstStyle/>
          <a:p>
            <a:pPr indent="0" marL="0">
              <a:buNone/>
            </a:pPr>
            <a:r>
              <a:rPr lang="en-US" sz="1450" b="1" dirty="0">
                <a:solidFill>
                  <a:srgbClr val="1D5FD6"/>
                </a:solidFill>
                <a:latin typeface="Courier New" pitchFamily="34" charset="0"/>
                <a:ea typeface="Courier New" pitchFamily="34" charset="-122"/>
                <a:cs typeface="Courier New" pitchFamily="34" charset="-120"/>
              </a:rPr>
              <a:t>DIRECT</a:t>
            </a:r>
            <a:endParaRPr lang="en-US" sz="1450" dirty="0"/>
          </a:p>
        </p:txBody>
      </p:sp>
      <p:sp>
        <p:nvSpPr>
          <p:cNvPr id="6" name="Text 4"/>
          <p:cNvSpPr/>
          <p:nvPr/>
        </p:nvSpPr>
        <p:spPr>
          <a:xfrm>
            <a:off x="731520" y="2212848"/>
            <a:ext cx="310896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explicitly stated</a:t>
            </a:r>
            <a:endParaRPr lang="en-US" sz="1100" dirty="0"/>
          </a:p>
        </p:txBody>
      </p:sp>
      <p:sp>
        <p:nvSpPr>
          <p:cNvPr id="7" name="Shape 5"/>
          <p:cNvSpPr/>
          <p:nvPr/>
        </p:nvSpPr>
        <p:spPr>
          <a:xfrm>
            <a:off x="4251960" y="1737360"/>
            <a:ext cx="3520440" cy="868680"/>
          </a:xfrm>
          <a:prstGeom prst="roundRect">
            <a:avLst>
              <a:gd name="adj" fmla="val 8421"/>
            </a:avLst>
          </a:prstGeom>
          <a:solidFill>
            <a:srgbClr val="E8F0FE"/>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8" name="Text 6"/>
          <p:cNvSpPr/>
          <p:nvPr/>
        </p:nvSpPr>
        <p:spPr>
          <a:xfrm>
            <a:off x="4434840" y="1828800"/>
            <a:ext cx="3108960" cy="365760"/>
          </a:xfrm>
          <a:prstGeom prst="rect">
            <a:avLst/>
          </a:prstGeom>
          <a:noFill/>
          <a:ln/>
        </p:spPr>
        <p:txBody>
          <a:bodyPr wrap="square" lIns="0" tIns="0" rIns="0" bIns="0" rtlCol="0" anchor="ctr"/>
          <a:lstStyle/>
          <a:p>
            <a:pPr indent="0" marL="0">
              <a:buNone/>
            </a:pPr>
            <a:r>
              <a:rPr lang="en-US" sz="1450" b="1" dirty="0">
                <a:solidFill>
                  <a:srgbClr val="1D5FD6"/>
                </a:solidFill>
                <a:latin typeface="Courier New" pitchFamily="34" charset="0"/>
                <a:ea typeface="Courier New" pitchFamily="34" charset="-122"/>
                <a:cs typeface="Courier New" pitchFamily="34" charset="-120"/>
              </a:rPr>
              <a:t>NORMALIZED</a:t>
            </a:r>
            <a:endParaRPr lang="en-US" sz="1450" dirty="0"/>
          </a:p>
        </p:txBody>
      </p:sp>
      <p:sp>
        <p:nvSpPr>
          <p:cNvPr id="9" name="Text 7"/>
          <p:cNvSpPr/>
          <p:nvPr/>
        </p:nvSpPr>
        <p:spPr>
          <a:xfrm>
            <a:off x="4434840" y="2212848"/>
            <a:ext cx="310896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same fact, standardized</a:t>
            </a:r>
            <a:endParaRPr lang="en-US" sz="1100" dirty="0"/>
          </a:p>
        </p:txBody>
      </p:sp>
      <p:sp>
        <p:nvSpPr>
          <p:cNvPr id="10" name="Shape 8"/>
          <p:cNvSpPr/>
          <p:nvPr/>
        </p:nvSpPr>
        <p:spPr>
          <a:xfrm>
            <a:off x="7955280" y="1737360"/>
            <a:ext cx="3520440" cy="868680"/>
          </a:xfrm>
          <a:prstGeom prst="roundRect">
            <a:avLst>
              <a:gd name="adj" fmla="val 8421"/>
            </a:avLst>
          </a:prstGeom>
          <a:solidFill>
            <a:srgbClr val="E8F0FE"/>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1" name="Text 9"/>
          <p:cNvSpPr/>
          <p:nvPr/>
        </p:nvSpPr>
        <p:spPr>
          <a:xfrm>
            <a:off x="8138160" y="1828800"/>
            <a:ext cx="3108960" cy="365760"/>
          </a:xfrm>
          <a:prstGeom prst="rect">
            <a:avLst/>
          </a:prstGeom>
          <a:noFill/>
          <a:ln/>
        </p:spPr>
        <p:txBody>
          <a:bodyPr wrap="square" lIns="0" tIns="0" rIns="0" bIns="0" rtlCol="0" anchor="ctr"/>
          <a:lstStyle/>
          <a:p>
            <a:pPr indent="0" marL="0">
              <a:buNone/>
            </a:pPr>
            <a:r>
              <a:rPr lang="en-US" sz="1450" b="1" dirty="0">
                <a:solidFill>
                  <a:srgbClr val="1D5FD6"/>
                </a:solidFill>
                <a:latin typeface="Courier New" pitchFamily="34" charset="0"/>
                <a:ea typeface="Courier New" pitchFamily="34" charset="-122"/>
                <a:cs typeface="Courier New" pitchFamily="34" charset="-120"/>
              </a:rPr>
              <a:t>DERIVED</a:t>
            </a:r>
            <a:endParaRPr lang="en-US" sz="1450" dirty="0"/>
          </a:p>
        </p:txBody>
      </p:sp>
      <p:sp>
        <p:nvSpPr>
          <p:cNvPr id="12" name="Text 10"/>
          <p:cNvSpPr/>
          <p:nvPr/>
        </p:nvSpPr>
        <p:spPr>
          <a:xfrm>
            <a:off x="8138160" y="2212848"/>
            <a:ext cx="310896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deterministic transform</a:t>
            </a:r>
            <a:endParaRPr lang="en-US" sz="1100" dirty="0"/>
          </a:p>
        </p:txBody>
      </p:sp>
      <p:sp>
        <p:nvSpPr>
          <p:cNvPr id="13" name="Shape 11"/>
          <p:cNvSpPr/>
          <p:nvPr/>
        </p:nvSpPr>
        <p:spPr>
          <a:xfrm>
            <a:off x="548640" y="2788920"/>
            <a:ext cx="3520440" cy="868680"/>
          </a:xfrm>
          <a:prstGeom prst="roundRect">
            <a:avLst>
              <a:gd name="adj" fmla="val 8421"/>
            </a:avLst>
          </a:prstGeom>
          <a:solidFill>
            <a:srgbClr val="E8F0FE"/>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4" name="Text 12"/>
          <p:cNvSpPr/>
          <p:nvPr/>
        </p:nvSpPr>
        <p:spPr>
          <a:xfrm>
            <a:off x="731520" y="2880360"/>
            <a:ext cx="3108960" cy="365760"/>
          </a:xfrm>
          <a:prstGeom prst="rect">
            <a:avLst/>
          </a:prstGeom>
          <a:noFill/>
          <a:ln/>
        </p:spPr>
        <p:txBody>
          <a:bodyPr wrap="square" lIns="0" tIns="0" rIns="0" bIns="0" rtlCol="0" anchor="ctr"/>
          <a:lstStyle/>
          <a:p>
            <a:pPr indent="0" marL="0">
              <a:buNone/>
            </a:pPr>
            <a:r>
              <a:rPr lang="en-US" sz="1450" b="1" dirty="0">
                <a:solidFill>
                  <a:srgbClr val="1D5FD6"/>
                </a:solidFill>
                <a:latin typeface="Courier New" pitchFamily="34" charset="0"/>
                <a:ea typeface="Courier New" pitchFamily="34" charset="-122"/>
                <a:cs typeface="Courier New" pitchFamily="34" charset="-120"/>
              </a:rPr>
              <a:t>INFERRED</a:t>
            </a:r>
            <a:endParaRPr lang="en-US" sz="1450" dirty="0"/>
          </a:p>
        </p:txBody>
      </p:sp>
      <p:sp>
        <p:nvSpPr>
          <p:cNvPr id="15" name="Text 13"/>
          <p:cNvSpPr/>
          <p:nvPr/>
        </p:nvSpPr>
        <p:spPr>
          <a:xfrm>
            <a:off x="731520" y="3264408"/>
            <a:ext cx="310896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model reasoning</a:t>
            </a:r>
            <a:endParaRPr lang="en-US" sz="1100" dirty="0"/>
          </a:p>
        </p:txBody>
      </p:sp>
      <p:sp>
        <p:nvSpPr>
          <p:cNvPr id="16" name="Shape 14"/>
          <p:cNvSpPr/>
          <p:nvPr/>
        </p:nvSpPr>
        <p:spPr>
          <a:xfrm>
            <a:off x="4251960" y="2788920"/>
            <a:ext cx="3520440" cy="868680"/>
          </a:xfrm>
          <a:prstGeom prst="roundRect">
            <a:avLst>
              <a:gd name="adj" fmla="val 8421"/>
            </a:avLst>
          </a:prstGeom>
          <a:solidFill>
            <a:srgbClr val="FDF1E0"/>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7" name="Text 15"/>
          <p:cNvSpPr/>
          <p:nvPr/>
        </p:nvSpPr>
        <p:spPr>
          <a:xfrm>
            <a:off x="4434840" y="2880360"/>
            <a:ext cx="3108960" cy="365760"/>
          </a:xfrm>
          <a:prstGeom prst="rect">
            <a:avLst/>
          </a:prstGeom>
          <a:noFill/>
          <a:ln/>
        </p:spPr>
        <p:txBody>
          <a:bodyPr wrap="square" lIns="0" tIns="0" rIns="0" bIns="0" rtlCol="0" anchor="ctr"/>
          <a:lstStyle/>
          <a:p>
            <a:pPr indent="0" marL="0">
              <a:buNone/>
            </a:pPr>
            <a:r>
              <a:rPr lang="en-US" sz="1450" b="1" dirty="0">
                <a:solidFill>
                  <a:srgbClr val="A8620A"/>
                </a:solidFill>
                <a:latin typeface="Courier New" pitchFamily="34" charset="0"/>
                <a:ea typeface="Courier New" pitchFamily="34" charset="-122"/>
                <a:cs typeface="Courier New" pitchFamily="34" charset="-120"/>
              </a:rPr>
              <a:t>UNKNOWN</a:t>
            </a:r>
            <a:endParaRPr lang="en-US" sz="1450" dirty="0"/>
          </a:p>
        </p:txBody>
      </p:sp>
      <p:sp>
        <p:nvSpPr>
          <p:cNvPr id="18" name="Text 16"/>
          <p:cNvSpPr/>
          <p:nvPr/>
        </p:nvSpPr>
        <p:spPr>
          <a:xfrm>
            <a:off x="4434840" y="3264408"/>
            <a:ext cx="310896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insufficient evidence</a:t>
            </a:r>
            <a:endParaRPr lang="en-US" sz="1100" dirty="0"/>
          </a:p>
        </p:txBody>
      </p:sp>
      <p:sp>
        <p:nvSpPr>
          <p:cNvPr id="19" name="Shape 17"/>
          <p:cNvSpPr/>
          <p:nvPr/>
        </p:nvSpPr>
        <p:spPr>
          <a:xfrm>
            <a:off x="7955280" y="2788920"/>
            <a:ext cx="3520440" cy="868680"/>
          </a:xfrm>
          <a:prstGeom prst="roundRect">
            <a:avLst>
              <a:gd name="adj" fmla="val 8421"/>
            </a:avLst>
          </a:prstGeom>
          <a:solidFill>
            <a:srgbClr val="FDEAEA"/>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20" name="Text 18"/>
          <p:cNvSpPr/>
          <p:nvPr/>
        </p:nvSpPr>
        <p:spPr>
          <a:xfrm>
            <a:off x="8138160" y="2880360"/>
            <a:ext cx="3108960" cy="365760"/>
          </a:xfrm>
          <a:prstGeom prst="rect">
            <a:avLst/>
          </a:prstGeom>
          <a:noFill/>
          <a:ln/>
        </p:spPr>
        <p:txBody>
          <a:bodyPr wrap="square" lIns="0" tIns="0" rIns="0" bIns="0" rtlCol="0" anchor="ctr"/>
          <a:lstStyle/>
          <a:p>
            <a:pPr indent="0" marL="0">
              <a:buNone/>
            </a:pPr>
            <a:r>
              <a:rPr lang="en-US" sz="1450" b="1" dirty="0">
                <a:solidFill>
                  <a:srgbClr val="C22B2B"/>
                </a:solidFill>
                <a:latin typeface="Courier New" pitchFamily="34" charset="0"/>
                <a:ea typeface="Courier New" pitchFamily="34" charset="-122"/>
                <a:cs typeface="Courier New" pitchFamily="34" charset="-120"/>
              </a:rPr>
              <a:t>CONFLICT</a:t>
            </a:r>
            <a:endParaRPr lang="en-US" sz="1450" dirty="0"/>
          </a:p>
        </p:txBody>
      </p:sp>
      <p:sp>
        <p:nvSpPr>
          <p:cNvPr id="21" name="Text 19"/>
          <p:cNvSpPr/>
          <p:nvPr/>
        </p:nvSpPr>
        <p:spPr>
          <a:xfrm>
            <a:off x="8138160" y="3264408"/>
            <a:ext cx="310896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sources disagree</a:t>
            </a:r>
            <a:endParaRPr lang="en-US" sz="1100" dirty="0"/>
          </a:p>
        </p:txBody>
      </p:sp>
      <p:sp>
        <p:nvSpPr>
          <p:cNvPr id="22" name="Text 20"/>
          <p:cNvSpPr/>
          <p:nvPr/>
        </p:nvSpPr>
        <p:spPr>
          <a:xfrm>
            <a:off x="548640" y="4160520"/>
            <a:ext cx="10881360" cy="640080"/>
          </a:xfrm>
          <a:prstGeom prst="rect">
            <a:avLst/>
          </a:prstGeom>
          <a:noFill/>
          <a:ln/>
        </p:spPr>
        <p:txBody>
          <a:bodyPr wrap="square" lIns="0" tIns="0" rIns="0" bIns="0" rtlCol="0" anchor="ctr"/>
          <a:lstStyle/>
          <a:p>
            <a:pPr indent="0" marL="0">
              <a:lnSpc>
                <a:spcPct val="125000"/>
              </a:lnSpc>
              <a:buNone/>
            </a:pPr>
            <a:r>
              <a:rPr lang="en-US" sz="1300" b="1" dirty="0">
                <a:solidFill>
                  <a:srgbClr val="111827"/>
                </a:solidFill>
                <a:latin typeface="Calibri" pitchFamily="34" charset="0"/>
                <a:ea typeface="Calibri" pitchFamily="34" charset="-122"/>
                <a:cs typeface="Calibri" pitchFamily="34" charset="-120"/>
              </a:rPr>
              <a:t>Manufacturer-first source hierarchy:  </a:t>
            </a:r>
            <a:pPr indent="0" marL="0">
              <a:lnSpc>
                <a:spcPct val="125000"/>
              </a:lnSpc>
              <a:buNone/>
            </a:pPr>
            <a:r>
              <a:rPr lang="en-US" sz="1300" dirty="0">
                <a:solidFill>
                  <a:srgbClr val="5B6472"/>
                </a:solidFill>
                <a:latin typeface="Calibri" pitchFamily="34" charset="0"/>
                <a:ea typeface="Calibri" pitchFamily="34" charset="-122"/>
                <a:cs typeface="Calibri" pitchFamily="34" charset="-120"/>
              </a:rPr>
              <a:t>manufacturer product page &gt; documentation &gt; spec PDF &gt; install manual &gt; catalog &gt; technical bulletin. Marketplace/distributor data is never treated as equivalent evidence.</a:t>
            </a:r>
            <a:endParaRPr lang="en-US" sz="1300" dirty="0"/>
          </a:p>
        </p:txBody>
      </p:sp>
      <p:sp>
        <p:nvSpPr>
          <p:cNvPr id="23" name="Text 21"/>
          <p:cNvSpPr/>
          <p:nvPr/>
        </p:nvSpPr>
        <p:spPr>
          <a:xfrm>
            <a:off x="548640" y="4937760"/>
            <a:ext cx="10881360" cy="822960"/>
          </a:xfrm>
          <a:prstGeom prst="rect">
            <a:avLst/>
          </a:prstGeom>
          <a:noFill/>
          <a:ln/>
        </p:spPr>
        <p:txBody>
          <a:bodyPr wrap="square" lIns="0" tIns="0" rIns="0" bIns="0" rtlCol="0" anchor="ctr"/>
          <a:lstStyle/>
          <a:p>
            <a:pPr indent="0" marL="0">
              <a:lnSpc>
                <a:spcPct val="125000"/>
              </a:lnSpc>
              <a:buNone/>
            </a:pPr>
            <a:r>
              <a:rPr lang="en-US" sz="1300" b="1" dirty="0">
                <a:solidFill>
                  <a:srgbClr val="111827"/>
                </a:solidFill>
                <a:latin typeface="Calibri" pitchFamily="34" charset="0"/>
                <a:ea typeface="Calibri" pitchFamily="34" charset="-122"/>
                <a:cs typeface="Calibri" pitchFamily="34" charset="-120"/>
              </a:rPr>
              <a:t>No-hallucination rule:  </a:t>
            </a:r>
            <a:pPr indent="0" marL="0">
              <a:lnSpc>
                <a:spcPct val="125000"/>
              </a:lnSpc>
              <a:buNone/>
            </a:pPr>
            <a:r>
              <a:rPr lang="en-US" sz="1300" dirty="0">
                <a:solidFill>
                  <a:srgbClr val="5B6472"/>
                </a:solidFill>
                <a:latin typeface="Calibri" pitchFamily="34" charset="0"/>
                <a:ea typeface="Calibri" pitchFamily="34" charset="-122"/>
                <a:cs typeface="Calibri" pitchFamily="34" charset="-120"/>
              </a:rPr>
              <a:t>generated descriptions may only reference attributes that exist as claims. Marketing filler ("premium performance", "commercial-grade") is rejected unless it is itself a sourced claim — enforced in app/generation/renderers.py and unit-tested.</a:t>
            </a:r>
            <a:endParaRPr lang="en-US" sz="1300" dirty="0"/>
          </a:p>
        </p:txBody>
      </p:sp>
      <p:sp>
        <p:nvSpPr>
          <p:cNvPr id="24" name="Text 22"/>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 / 20</a:t>
            </a:r>
            <a:endParaRPr lang="en-US" sz="900" dirty="0"/>
          </a:p>
        </p:txBody>
      </p:sp>
      <p:sp>
        <p:nvSpPr>
          <p:cNvPr id="25" name="Text 23"/>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VALIDATION &amp; CONFIDENCE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Confidence built from signals, not self-reports</a:t>
            </a:r>
            <a:endParaRPr lang="en-US" sz="3000" dirty="0"/>
          </a:p>
        </p:txBody>
      </p:sp>
      <p:sp>
        <p:nvSpPr>
          <p:cNvPr id="4" name="Shape 2"/>
          <p:cNvSpPr/>
          <p:nvPr/>
        </p:nvSpPr>
        <p:spPr>
          <a:xfrm>
            <a:off x="548640" y="1737360"/>
            <a:ext cx="1664208" cy="502920"/>
          </a:xfrm>
          <a:prstGeom prst="roundRect">
            <a:avLst>
              <a:gd name="adj" fmla="val 10909"/>
            </a:avLst>
          </a:prstGeom>
          <a:solidFill>
            <a:srgbClr val="EEF1F6"/>
          </a:solidFill>
          <a:ln w="12700">
            <a:solidFill>
              <a:srgbClr val="E2E6EC"/>
            </a:solidFill>
            <a:prstDash val="solid"/>
          </a:ln>
        </p:spPr>
      </p:sp>
      <p:sp>
        <p:nvSpPr>
          <p:cNvPr id="5" name="Text 3"/>
          <p:cNvSpPr/>
          <p:nvPr/>
        </p:nvSpPr>
        <p:spPr>
          <a:xfrm>
            <a:off x="548640" y="1737360"/>
            <a:ext cx="1664208" cy="502920"/>
          </a:xfrm>
          <a:prstGeom prst="rect">
            <a:avLst/>
          </a:prstGeom>
          <a:noFill/>
          <a:ln/>
        </p:spPr>
        <p:txBody>
          <a:bodyPr wrap="square" lIns="0" tIns="0" rIns="0" bIns="0" rtlCol="0" anchor="ctr"/>
          <a:lstStyle/>
          <a:p>
            <a:pPr algn="ctr" indent="0" marL="0">
              <a:buNone/>
            </a:pPr>
            <a:r>
              <a:rPr lang="en-US" sz="1150" b="1" dirty="0">
                <a:solidFill>
                  <a:srgbClr val="111827"/>
                </a:solidFill>
                <a:latin typeface="Calibri" pitchFamily="34" charset="0"/>
                <a:ea typeface="Calibri" pitchFamily="34" charset="-122"/>
                <a:cs typeface="Calibri" pitchFamily="34" charset="-120"/>
              </a:rPr>
              <a:t>Schema</a:t>
            </a:r>
            <a:endParaRPr lang="en-US" sz="1150" dirty="0"/>
          </a:p>
        </p:txBody>
      </p:sp>
      <p:sp>
        <p:nvSpPr>
          <p:cNvPr id="6" name="Shape 4"/>
          <p:cNvSpPr/>
          <p:nvPr/>
        </p:nvSpPr>
        <p:spPr>
          <a:xfrm>
            <a:off x="2359152" y="1737360"/>
            <a:ext cx="1664208" cy="502920"/>
          </a:xfrm>
          <a:prstGeom prst="roundRect">
            <a:avLst>
              <a:gd name="adj" fmla="val 10909"/>
            </a:avLst>
          </a:prstGeom>
          <a:solidFill>
            <a:srgbClr val="EEF1F6"/>
          </a:solidFill>
          <a:ln w="12700">
            <a:solidFill>
              <a:srgbClr val="E2E6EC"/>
            </a:solidFill>
            <a:prstDash val="solid"/>
          </a:ln>
        </p:spPr>
      </p:sp>
      <p:sp>
        <p:nvSpPr>
          <p:cNvPr id="7" name="Text 5"/>
          <p:cNvSpPr/>
          <p:nvPr/>
        </p:nvSpPr>
        <p:spPr>
          <a:xfrm>
            <a:off x="2359152" y="1737360"/>
            <a:ext cx="1664208" cy="502920"/>
          </a:xfrm>
          <a:prstGeom prst="rect">
            <a:avLst/>
          </a:prstGeom>
          <a:noFill/>
          <a:ln/>
        </p:spPr>
        <p:txBody>
          <a:bodyPr wrap="square" lIns="0" tIns="0" rIns="0" bIns="0" rtlCol="0" anchor="ctr"/>
          <a:lstStyle/>
          <a:p>
            <a:pPr algn="ctr" indent="0" marL="0">
              <a:buNone/>
            </a:pPr>
            <a:r>
              <a:rPr lang="en-US" sz="1150" b="1" dirty="0">
                <a:solidFill>
                  <a:srgbClr val="111827"/>
                </a:solidFill>
                <a:latin typeface="Calibri" pitchFamily="34" charset="0"/>
                <a:ea typeface="Calibri" pitchFamily="34" charset="-122"/>
                <a:cs typeface="Calibri" pitchFamily="34" charset="-120"/>
              </a:rPr>
              <a:t>Vocabulary</a:t>
            </a:r>
            <a:endParaRPr lang="en-US" sz="1150" dirty="0"/>
          </a:p>
        </p:txBody>
      </p:sp>
      <p:sp>
        <p:nvSpPr>
          <p:cNvPr id="8" name="Shape 6"/>
          <p:cNvSpPr/>
          <p:nvPr/>
        </p:nvSpPr>
        <p:spPr>
          <a:xfrm>
            <a:off x="4169664" y="1737360"/>
            <a:ext cx="1664208" cy="502920"/>
          </a:xfrm>
          <a:prstGeom prst="roundRect">
            <a:avLst>
              <a:gd name="adj" fmla="val 10909"/>
            </a:avLst>
          </a:prstGeom>
          <a:solidFill>
            <a:srgbClr val="EEF1F6"/>
          </a:solidFill>
          <a:ln w="12700">
            <a:solidFill>
              <a:srgbClr val="E2E6EC"/>
            </a:solidFill>
            <a:prstDash val="solid"/>
          </a:ln>
        </p:spPr>
      </p:sp>
      <p:sp>
        <p:nvSpPr>
          <p:cNvPr id="9" name="Text 7"/>
          <p:cNvSpPr/>
          <p:nvPr/>
        </p:nvSpPr>
        <p:spPr>
          <a:xfrm>
            <a:off x="4169664" y="1737360"/>
            <a:ext cx="1664208" cy="502920"/>
          </a:xfrm>
          <a:prstGeom prst="rect">
            <a:avLst/>
          </a:prstGeom>
          <a:noFill/>
          <a:ln/>
        </p:spPr>
        <p:txBody>
          <a:bodyPr wrap="square" lIns="0" tIns="0" rIns="0" bIns="0" rtlCol="0" anchor="ctr"/>
          <a:lstStyle/>
          <a:p>
            <a:pPr algn="ctr" indent="0" marL="0">
              <a:buNone/>
            </a:pPr>
            <a:r>
              <a:rPr lang="en-US" sz="1150" b="1" dirty="0">
                <a:solidFill>
                  <a:srgbClr val="111827"/>
                </a:solidFill>
                <a:latin typeface="Calibri" pitchFamily="34" charset="0"/>
                <a:ea typeface="Calibri" pitchFamily="34" charset="-122"/>
                <a:cs typeface="Calibri" pitchFamily="34" charset="-120"/>
              </a:rPr>
              <a:t>Formatting</a:t>
            </a:r>
            <a:endParaRPr lang="en-US" sz="1150" dirty="0"/>
          </a:p>
        </p:txBody>
      </p:sp>
      <p:sp>
        <p:nvSpPr>
          <p:cNvPr id="10" name="Shape 8"/>
          <p:cNvSpPr/>
          <p:nvPr/>
        </p:nvSpPr>
        <p:spPr>
          <a:xfrm>
            <a:off x="5980176" y="1737360"/>
            <a:ext cx="1664208" cy="502920"/>
          </a:xfrm>
          <a:prstGeom prst="roundRect">
            <a:avLst>
              <a:gd name="adj" fmla="val 10909"/>
            </a:avLst>
          </a:prstGeom>
          <a:solidFill>
            <a:srgbClr val="EEF1F6"/>
          </a:solidFill>
          <a:ln w="12700">
            <a:solidFill>
              <a:srgbClr val="E2E6EC"/>
            </a:solidFill>
            <a:prstDash val="solid"/>
          </a:ln>
        </p:spPr>
      </p:sp>
      <p:sp>
        <p:nvSpPr>
          <p:cNvPr id="11" name="Text 9"/>
          <p:cNvSpPr/>
          <p:nvPr/>
        </p:nvSpPr>
        <p:spPr>
          <a:xfrm>
            <a:off x="5980176" y="1737360"/>
            <a:ext cx="1664208" cy="502920"/>
          </a:xfrm>
          <a:prstGeom prst="rect">
            <a:avLst/>
          </a:prstGeom>
          <a:noFill/>
          <a:ln/>
        </p:spPr>
        <p:txBody>
          <a:bodyPr wrap="square" lIns="0" tIns="0" rIns="0" bIns="0" rtlCol="0" anchor="ctr"/>
          <a:lstStyle/>
          <a:p>
            <a:pPr algn="ctr" indent="0" marL="0">
              <a:buNone/>
            </a:pPr>
            <a:r>
              <a:rPr lang="en-US" sz="1150" b="1" dirty="0">
                <a:solidFill>
                  <a:srgbClr val="111827"/>
                </a:solidFill>
                <a:latin typeface="Calibri" pitchFamily="34" charset="0"/>
                <a:ea typeface="Calibri" pitchFamily="34" charset="-122"/>
                <a:cs typeface="Calibri" pitchFamily="34" charset="-120"/>
              </a:rPr>
              <a:t>Semantic</a:t>
            </a:r>
            <a:endParaRPr lang="en-US" sz="1150" dirty="0"/>
          </a:p>
        </p:txBody>
      </p:sp>
      <p:sp>
        <p:nvSpPr>
          <p:cNvPr id="12" name="Shape 10"/>
          <p:cNvSpPr/>
          <p:nvPr/>
        </p:nvSpPr>
        <p:spPr>
          <a:xfrm>
            <a:off x="7790688" y="1737360"/>
            <a:ext cx="1664208" cy="502920"/>
          </a:xfrm>
          <a:prstGeom prst="roundRect">
            <a:avLst>
              <a:gd name="adj" fmla="val 10909"/>
            </a:avLst>
          </a:prstGeom>
          <a:solidFill>
            <a:srgbClr val="EEF1F6"/>
          </a:solidFill>
          <a:ln w="12700">
            <a:solidFill>
              <a:srgbClr val="E2E6EC"/>
            </a:solidFill>
            <a:prstDash val="solid"/>
          </a:ln>
        </p:spPr>
      </p:sp>
      <p:sp>
        <p:nvSpPr>
          <p:cNvPr id="13" name="Text 11"/>
          <p:cNvSpPr/>
          <p:nvPr/>
        </p:nvSpPr>
        <p:spPr>
          <a:xfrm>
            <a:off x="7790688" y="1737360"/>
            <a:ext cx="1664208" cy="502920"/>
          </a:xfrm>
          <a:prstGeom prst="rect">
            <a:avLst/>
          </a:prstGeom>
          <a:noFill/>
          <a:ln/>
        </p:spPr>
        <p:txBody>
          <a:bodyPr wrap="square" lIns="0" tIns="0" rIns="0" bIns="0" rtlCol="0" anchor="ctr"/>
          <a:lstStyle/>
          <a:p>
            <a:pPr algn="ctr" indent="0" marL="0">
              <a:buNone/>
            </a:pPr>
            <a:r>
              <a:rPr lang="en-US" sz="1150" b="1" dirty="0">
                <a:solidFill>
                  <a:srgbClr val="111827"/>
                </a:solidFill>
                <a:latin typeface="Calibri" pitchFamily="34" charset="0"/>
                <a:ea typeface="Calibri" pitchFamily="34" charset="-122"/>
                <a:cs typeface="Calibri" pitchFamily="34" charset="-120"/>
              </a:rPr>
              <a:t>Cross-field</a:t>
            </a:r>
            <a:endParaRPr lang="en-US" sz="1150" dirty="0"/>
          </a:p>
        </p:txBody>
      </p:sp>
      <p:sp>
        <p:nvSpPr>
          <p:cNvPr id="14" name="Shape 12"/>
          <p:cNvSpPr/>
          <p:nvPr/>
        </p:nvSpPr>
        <p:spPr>
          <a:xfrm>
            <a:off x="9601200" y="1737360"/>
            <a:ext cx="1664208" cy="502920"/>
          </a:xfrm>
          <a:prstGeom prst="roundRect">
            <a:avLst>
              <a:gd name="adj" fmla="val 10909"/>
            </a:avLst>
          </a:prstGeom>
          <a:solidFill>
            <a:srgbClr val="EEF1F6"/>
          </a:solidFill>
          <a:ln w="12700">
            <a:solidFill>
              <a:srgbClr val="E2E6EC"/>
            </a:solidFill>
            <a:prstDash val="solid"/>
          </a:ln>
        </p:spPr>
      </p:sp>
      <p:sp>
        <p:nvSpPr>
          <p:cNvPr id="15" name="Text 13"/>
          <p:cNvSpPr/>
          <p:nvPr/>
        </p:nvSpPr>
        <p:spPr>
          <a:xfrm>
            <a:off x="9601200" y="1737360"/>
            <a:ext cx="1664208" cy="502920"/>
          </a:xfrm>
          <a:prstGeom prst="rect">
            <a:avLst/>
          </a:prstGeom>
          <a:noFill/>
          <a:ln/>
        </p:spPr>
        <p:txBody>
          <a:bodyPr wrap="square" lIns="0" tIns="0" rIns="0" bIns="0" rtlCol="0" anchor="ctr"/>
          <a:lstStyle/>
          <a:p>
            <a:pPr algn="ctr" indent="0" marL="0">
              <a:buNone/>
            </a:pPr>
            <a:r>
              <a:rPr lang="en-US" sz="1150" b="1" dirty="0">
                <a:solidFill>
                  <a:srgbClr val="111827"/>
                </a:solidFill>
                <a:latin typeface="Calibri" pitchFamily="34" charset="0"/>
                <a:ea typeface="Calibri" pitchFamily="34" charset="-122"/>
                <a:cs typeface="Calibri" pitchFamily="34" charset="-120"/>
              </a:rPr>
              <a:t>Source</a:t>
            </a:r>
            <a:endParaRPr lang="en-US" sz="1150" dirty="0"/>
          </a:p>
        </p:txBody>
      </p:sp>
      <p:sp>
        <p:nvSpPr>
          <p:cNvPr id="16" name="Text 14"/>
          <p:cNvSpPr/>
          <p:nvPr/>
        </p:nvSpPr>
        <p:spPr>
          <a:xfrm>
            <a:off x="548640" y="2514600"/>
            <a:ext cx="6035040" cy="2743200"/>
          </a:xfrm>
          <a:prstGeom prst="rect">
            <a:avLst/>
          </a:prstGeom>
          <a:noFill/>
          <a:ln/>
        </p:spPr>
        <p:txBody>
          <a:bodyPr wrap="square" lIns="0" tIns="0" rIns="0" bIns="0" rtlCol="0" anchor="t"/>
          <a:lstStyle/>
          <a:p>
            <a:pPr marL="228600" indent="-228600">
              <a:spcAft>
                <a:spcPts val="1600"/>
              </a:spcAft>
              <a:buSzPct val="100000"/>
              <a:buChar char="▪"/>
            </a:pPr>
            <a:r>
              <a:rPr lang="en-US" sz="1400" dirty="0">
                <a:solidFill>
                  <a:srgbClr val="1A2233"/>
                </a:solidFill>
                <a:latin typeface="Calibri" pitchFamily="34" charset="0"/>
                <a:ea typeface="Calibri" pitchFamily="34" charset="-122"/>
                <a:cs typeface="Calibri" pitchFamily="34" charset="-120"/>
              </a:rPr>
              <a:t>Confidence signals: exact-match method weight, source authority, LOV membership, validation error/warning counts</a:t>
            </a:r>
            <a:endParaRPr lang="en-US" sz="1400" dirty="0"/>
          </a:p>
          <a:p>
            <a:pPr marL="228600" indent="-228600">
              <a:spcAft>
                <a:spcPts val="1600"/>
              </a:spcAft>
              <a:buSzPct val="100000"/>
              <a:buChar char="▪"/>
            </a:pPr>
            <a:r>
              <a:rPr lang="en-US" sz="1400" dirty="0">
                <a:solidFill>
                  <a:srgbClr val="1A2233"/>
                </a:solidFill>
                <a:latin typeface="Calibri" pitchFamily="34" charset="0"/>
                <a:ea typeface="Calibri" pitchFamily="34" charset="-122"/>
                <a:cs typeface="Calibri" pitchFamily="34" charset="-120"/>
              </a:rPr>
              <a:t>Never the LLM's own confidence statement — every number traces to a concrete pipeline signal (app/confidence/engine.py)</a:t>
            </a:r>
            <a:endParaRPr lang="en-US" sz="1400" dirty="0"/>
          </a:p>
          <a:p>
            <a:pPr marL="228600" indent="-228600">
              <a:spcAft>
                <a:spcPts val="1600"/>
              </a:spcAft>
              <a:buSzPct val="100000"/>
              <a:buChar char="▪"/>
            </a:pPr>
            <a:r>
              <a:rPr lang="en-US" sz="1400" dirty="0">
                <a:solidFill>
                  <a:srgbClr val="1A2233"/>
                </a:solidFill>
                <a:latin typeface="Calibri" pitchFamily="34" charset="0"/>
                <a:ea typeface="Calibri" pitchFamily="34" charset="-122"/>
                <a:cs typeface="Calibri" pitchFamily="34" charset="-120"/>
              </a:rPr>
              <a:t>Below the configurable threshold (default 0.72) → routed to the review queue with structured, human-readable reasons</a:t>
            </a:r>
            <a:endParaRPr lang="en-US" sz="1400" dirty="0"/>
          </a:p>
        </p:txBody>
      </p:sp>
      <p:sp>
        <p:nvSpPr>
          <p:cNvPr id="17" name="Shape 15"/>
          <p:cNvSpPr/>
          <p:nvPr/>
        </p:nvSpPr>
        <p:spPr>
          <a:xfrm>
            <a:off x="6858000" y="2514600"/>
            <a:ext cx="4572000" cy="3291840"/>
          </a:xfrm>
          <a:prstGeom prst="roundRect">
            <a:avLst>
              <a:gd name="adj" fmla="val 2222"/>
            </a:avLst>
          </a:prstGeom>
          <a:solidFill>
            <a:srgbClr val="111827"/>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8" name="Text 16"/>
          <p:cNvSpPr/>
          <p:nvPr/>
        </p:nvSpPr>
        <p:spPr>
          <a:xfrm>
            <a:off x="7132320" y="2697480"/>
            <a:ext cx="4023360" cy="274320"/>
          </a:xfrm>
          <a:prstGeom prst="rect">
            <a:avLst/>
          </a:prstGeom>
          <a:noFill/>
          <a:ln/>
        </p:spPr>
        <p:txBody>
          <a:bodyPr wrap="square" lIns="0" tIns="0" rIns="0" bIns="0" rtlCol="0" anchor="ctr"/>
          <a:lstStyle/>
          <a:p>
            <a:pPr indent="0" marL="0">
              <a:buNone/>
            </a:pPr>
            <a:r>
              <a:rPr lang="en-US" sz="1050" b="1" spc="100" kern="0" dirty="0">
                <a:solidFill>
                  <a:srgbClr val="6FA1FF"/>
                </a:solidFill>
                <a:latin typeface="Calibri" pitchFamily="34" charset="0"/>
                <a:ea typeface="Calibri" pitchFamily="34" charset="-122"/>
                <a:cs typeface="Calibri" pitchFamily="34" charset="-120"/>
              </a:rPr>
              <a:t>REVIEW REASON CODES</a:t>
            </a:r>
            <a:endParaRPr lang="en-US" sz="1050" dirty="0"/>
          </a:p>
        </p:txBody>
      </p:sp>
      <p:sp>
        <p:nvSpPr>
          <p:cNvPr id="19" name="Text 17"/>
          <p:cNvSpPr/>
          <p:nvPr/>
        </p:nvSpPr>
        <p:spPr>
          <a:xfrm>
            <a:off x="7132320" y="3017520"/>
            <a:ext cx="4023360" cy="265176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D6DCEA"/>
                </a:solidFill>
                <a:latin typeface="Calibri" pitchFamily="34" charset="0"/>
                <a:ea typeface="Calibri" pitchFamily="34" charset="-122"/>
                <a:cs typeface="Calibri" pitchFamily="34" charset="-120"/>
              </a:rPr>
              <a:t>unresolved_manufacturer</a:t>
            </a:r>
            <a:endParaRPr lang="en-US" sz="1300" dirty="0"/>
          </a:p>
          <a:p>
            <a:pPr marL="228600" indent="-228600">
              <a:spcAft>
                <a:spcPts val="1200"/>
              </a:spcAft>
              <a:buSzPct val="100000"/>
              <a:buChar char="▪"/>
            </a:pPr>
            <a:r>
              <a:rPr lang="en-US" sz="1300" dirty="0">
                <a:solidFill>
                  <a:srgbClr val="D6DCEA"/>
                </a:solidFill>
                <a:latin typeface="Calibri" pitchFamily="34" charset="0"/>
                <a:ea typeface="Calibri" pitchFamily="34" charset="-122"/>
                <a:cs typeface="Calibri" pitchFamily="34" charset="-120"/>
              </a:rPr>
              <a:t>uncertain_classification</a:t>
            </a:r>
            <a:endParaRPr lang="en-US" sz="1300" dirty="0"/>
          </a:p>
          <a:p>
            <a:pPr marL="228600" indent="-228600">
              <a:spcAft>
                <a:spcPts val="1200"/>
              </a:spcAft>
              <a:buSzPct val="100000"/>
              <a:buChar char="▪"/>
            </a:pPr>
            <a:r>
              <a:rPr lang="en-US" sz="1300" dirty="0">
                <a:solidFill>
                  <a:srgbClr val="D6DCEA"/>
                </a:solidFill>
                <a:latin typeface="Calibri" pitchFamily="34" charset="0"/>
                <a:ea typeface="Calibri" pitchFamily="34" charset="-122"/>
                <a:cs typeface="Calibri" pitchFamily="34" charset="-120"/>
              </a:rPr>
              <a:t>validation_failed</a:t>
            </a:r>
            <a:endParaRPr lang="en-US" sz="1300" dirty="0"/>
          </a:p>
          <a:p>
            <a:pPr marL="228600" indent="-228600">
              <a:spcAft>
                <a:spcPts val="1200"/>
              </a:spcAft>
              <a:buSzPct val="100000"/>
              <a:buChar char="▪"/>
            </a:pPr>
            <a:r>
              <a:rPr lang="en-US" sz="1300" dirty="0">
                <a:solidFill>
                  <a:srgbClr val="D6DCEA"/>
                </a:solidFill>
                <a:latin typeface="Calibri" pitchFamily="34" charset="0"/>
                <a:ea typeface="Calibri" pitchFamily="34" charset="-122"/>
                <a:cs typeface="Calibri" pitchFamily="34" charset="-120"/>
              </a:rPr>
              <a:t>lov_mismatch</a:t>
            </a:r>
            <a:endParaRPr lang="en-US" sz="1300" dirty="0"/>
          </a:p>
          <a:p>
            <a:pPr marL="228600" indent="-228600">
              <a:spcAft>
                <a:spcPts val="1200"/>
              </a:spcAft>
              <a:buSzPct val="100000"/>
              <a:buChar char="▪"/>
            </a:pPr>
            <a:r>
              <a:rPr lang="en-US" sz="1300" dirty="0">
                <a:solidFill>
                  <a:srgbClr val="D6DCEA"/>
                </a:solidFill>
                <a:latin typeface="Calibri" pitchFamily="34" charset="0"/>
                <a:ea typeface="Calibri" pitchFamily="34" charset="-122"/>
                <a:cs typeface="Calibri" pitchFamily="34" charset="-120"/>
              </a:rPr>
              <a:t>low_confidence</a:t>
            </a:r>
            <a:endParaRPr lang="en-US" sz="1300" dirty="0"/>
          </a:p>
        </p:txBody>
      </p:sp>
      <p:sp>
        <p:nvSpPr>
          <p:cNvPr id="20" name="Text 18"/>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 / 20</a:t>
            </a:r>
            <a:endParaRPr lang="en-US" sz="900" dirty="0"/>
          </a:p>
        </p:txBody>
      </p:sp>
      <p:sp>
        <p:nvSpPr>
          <p:cNvPr id="21" name="Text 19"/>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6FA1FF"/>
                </a:solidFill>
                <a:latin typeface="Calibri" pitchFamily="34" charset="0"/>
                <a:ea typeface="Calibri" pitchFamily="34" charset="-122"/>
                <a:cs typeface="Calibri" pitchFamily="34" charset="-120"/>
              </a:rPr>
              <a:t>BEFORE / AFTER — LIVE SYSTEM OUTPUT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One raw string, fully compiled</a:t>
            </a:r>
            <a:endParaRPr lang="en-US" sz="3000" dirty="0"/>
          </a:p>
        </p:txBody>
      </p:sp>
      <p:sp>
        <p:nvSpPr>
          <p:cNvPr id="4" name="Shape 2"/>
          <p:cNvSpPr/>
          <p:nvPr/>
        </p:nvSpPr>
        <p:spPr>
          <a:xfrm>
            <a:off x="548640" y="1554480"/>
            <a:ext cx="3291840" cy="4617720"/>
          </a:xfrm>
          <a:prstGeom prst="roundRect">
            <a:avLst>
              <a:gd name="adj" fmla="val 2222"/>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777240" y="1737360"/>
            <a:ext cx="2834640" cy="274320"/>
          </a:xfrm>
          <a:prstGeom prst="rect">
            <a:avLst/>
          </a:prstGeom>
          <a:noFill/>
          <a:ln/>
        </p:spPr>
        <p:txBody>
          <a:bodyPr wrap="square" lIns="0" tIns="0" rIns="0" bIns="0" rtlCol="0" anchor="ctr"/>
          <a:lstStyle/>
          <a:p>
            <a:pPr indent="0" marL="0">
              <a:buNone/>
            </a:pPr>
            <a:r>
              <a:rPr lang="en-US" sz="1050" b="1" spc="100" kern="0" dirty="0">
                <a:solidFill>
                  <a:srgbClr val="8F9BB3"/>
                </a:solidFill>
                <a:latin typeface="Calibri" pitchFamily="34" charset="0"/>
                <a:ea typeface="Calibri" pitchFamily="34" charset="-122"/>
                <a:cs typeface="Calibri" pitchFamily="34" charset="-120"/>
              </a:rPr>
              <a:t>RAW INPUT</a:t>
            </a:r>
            <a:endParaRPr lang="en-US" sz="1050" dirty="0"/>
          </a:p>
        </p:txBody>
      </p:sp>
      <p:sp>
        <p:nvSpPr>
          <p:cNvPr id="6" name="Text 4"/>
          <p:cNvSpPr/>
          <p:nvPr/>
        </p:nvSpPr>
        <p:spPr>
          <a:xfrm>
            <a:off x="777240" y="2057400"/>
            <a:ext cx="2834640" cy="100584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"PDSH4816AF Dishwasher SS - Display Only"</a:t>
            </a:r>
            <a:endParaRPr lang="en-US" sz="1500" dirty="0"/>
          </a:p>
        </p:txBody>
      </p:sp>
      <p:sp>
        <p:nvSpPr>
          <p:cNvPr id="7" name="Text 5"/>
          <p:cNvSpPr/>
          <p:nvPr/>
        </p:nvSpPr>
        <p:spPr>
          <a:xfrm>
            <a:off x="777240" y="3108960"/>
            <a:ext cx="2834640" cy="640080"/>
          </a:xfrm>
          <a:prstGeom prst="rect">
            <a:avLst/>
          </a:prstGeom>
          <a:noFill/>
          <a:ln/>
        </p:spPr>
        <p:txBody>
          <a:bodyPr wrap="square" lIns="0" tIns="0" rIns="0" bIns="0" rtlCol="0" anchor="ctr"/>
          <a:lstStyle/>
          <a:p>
            <a:pPr indent="0" marL="0">
              <a:buNone/>
            </a:pPr>
            <a:r>
              <a:rPr lang="en-US" sz="1050" dirty="0">
                <a:solidFill>
                  <a:srgbClr val="8F9BB3"/>
                </a:solidFill>
                <a:latin typeface="Courier New" pitchFamily="34" charset="0"/>
                <a:ea typeface="Courier New" pitchFamily="34" charset="-122"/>
                <a:cs typeface="Courier New" pitchFamily="34" charset="-120"/>
              </a:rPr>
              <a:t>Part_Manuf: Appliance Dealers</a:t>
            </a:r>
            <a:endParaRPr lang="en-US" sz="1050" dirty="0"/>
          </a:p>
          <a:p>
            <a:pPr indent="0" marL="0">
              <a:buNone/>
            </a:pPr>
            <a:r>
              <a:rPr lang="en-US" sz="1050" dirty="0">
                <a:solidFill>
                  <a:srgbClr val="8F9BB3"/>
                </a:solidFill>
                <a:latin typeface="Courier New" pitchFamily="34" charset="0"/>
                <a:ea typeface="Courier New" pitchFamily="34" charset="-122"/>
                <a:cs typeface="Courier New" pitchFamily="34" charset="-120"/>
              </a:rPr>
              <a:t>Cooperative (APPDE)</a:t>
            </a:r>
            <a:endParaRPr lang="en-US" sz="1050" dirty="0"/>
          </a:p>
        </p:txBody>
      </p:sp>
      <p:sp>
        <p:nvSpPr>
          <p:cNvPr id="8" name="Shape 6"/>
          <p:cNvSpPr/>
          <p:nvPr/>
        </p:nvSpPr>
        <p:spPr>
          <a:xfrm>
            <a:off x="777240" y="3886200"/>
            <a:ext cx="2788920" cy="0"/>
          </a:xfrm>
          <a:prstGeom prst="line">
            <a:avLst/>
          </a:prstGeom>
          <a:noFill/>
          <a:ln w="12700">
            <a:solidFill>
              <a:srgbClr val="2A3A66"/>
            </a:solidFill>
            <a:prstDash val="solid"/>
          </a:ln>
        </p:spPr>
      </p:sp>
      <p:sp>
        <p:nvSpPr>
          <p:cNvPr id="9" name="Text 7"/>
          <p:cNvSpPr/>
          <p:nvPr/>
        </p:nvSpPr>
        <p:spPr>
          <a:xfrm>
            <a:off x="777240" y="4023360"/>
            <a:ext cx="2834640" cy="320040"/>
          </a:xfrm>
          <a:prstGeom prst="rect">
            <a:avLst/>
          </a:prstGeom>
          <a:noFill/>
          <a:ln/>
        </p:spPr>
        <p:txBody>
          <a:bodyPr wrap="square" lIns="0" tIns="0" rIns="0" bIns="0" rtlCol="0" anchor="ctr"/>
          <a:lstStyle/>
          <a:p>
            <a:pPr algn="ctr" indent="0" marL="0">
              <a:buNone/>
            </a:pPr>
            <a:r>
              <a:rPr lang="en-US" sz="1050" i="1" dirty="0">
                <a:solidFill>
                  <a:srgbClr val="6FA1FF"/>
                </a:solidFill>
                <a:latin typeface="Calibri" pitchFamily="34" charset="0"/>
                <a:ea typeface="Calibri" pitchFamily="34" charset="-122"/>
                <a:cs typeface="Calibri" pitchFamily="34" charset="-120"/>
              </a:rPr>
              <a:t>↓ full pipeline ↓</a:t>
            </a:r>
            <a:endParaRPr lang="en-US" sz="1050" dirty="0"/>
          </a:p>
        </p:txBody>
      </p:sp>
      <p:sp>
        <p:nvSpPr>
          <p:cNvPr id="10" name="Text 8"/>
          <p:cNvSpPr/>
          <p:nvPr/>
        </p:nvSpPr>
        <p:spPr>
          <a:xfrm>
            <a:off x="777240" y="4434840"/>
            <a:ext cx="2880360" cy="1600200"/>
          </a:xfrm>
          <a:prstGeom prst="rect">
            <a:avLst/>
          </a:prstGeom>
          <a:noFill/>
          <a:ln/>
        </p:spPr>
        <p:txBody>
          <a:bodyPr wrap="square" lIns="0" tIns="0" rIns="0" bIns="0" rtlCol="0" anchor="t"/>
          <a:lstStyle/>
          <a:p>
            <a:pPr indent="0" marL="0">
              <a:lnSpc>
                <a:spcPct val="135000"/>
              </a:lnSpc>
              <a:buNone/>
            </a:pPr>
            <a:r>
              <a:rPr lang="en-US" sz="1050" dirty="0">
                <a:solidFill>
                  <a:srgbClr val="8F9BB3"/>
                </a:solidFill>
                <a:latin typeface="Calibri" pitchFamily="34" charset="0"/>
                <a:ea typeface="Calibri" pitchFamily="34" charset="-122"/>
                <a:cs typeface="Calibri" pitchFamily="34" charset="-120"/>
              </a:rPr>
              <a:t>Manufacturer  </a:t>
            </a:r>
            <a:pPr indent="0" marL="0">
              <a:lnSpc>
                <a:spcPct val="135000"/>
              </a:lnSpc>
              <a:buNone/>
            </a:pPr>
            <a:r>
              <a:rPr lang="en-US" sz="1250" b="1" dirty="0">
                <a:solidFill>
                  <a:srgbClr val="6FE0A8"/>
                </a:solidFill>
                <a:latin typeface="Calibri" pitchFamily="34" charset="0"/>
                <a:ea typeface="Calibri" pitchFamily="34" charset="-122"/>
                <a:cs typeface="Calibri" pitchFamily="34" charset="-120"/>
              </a:rPr>
              <a:t>Rheem Manufacturing
</a:t>
            </a:r>
            <a:pPr indent="0" marL="0">
              <a:lnSpc>
                <a:spcPct val="135000"/>
              </a:lnSpc>
              <a:buNone/>
            </a:pPr>
            <a:r>
              <a:rPr lang="en-US" sz="1050" dirty="0">
                <a:solidFill>
                  <a:srgbClr val="8F9BB3"/>
                </a:solidFill>
                <a:latin typeface="Calibri" pitchFamily="34" charset="0"/>
                <a:ea typeface="Calibri" pitchFamily="34" charset="-122"/>
                <a:cs typeface="Calibri" pitchFamily="34" charset="-120"/>
              </a:rPr>
              <a:t>Brand  </a:t>
            </a:r>
            <a:pPr indent="0" marL="0">
              <a:lnSpc>
                <a:spcPct val="135000"/>
              </a:lnSpc>
              <a:buNone/>
            </a:pPr>
            <a:r>
              <a:rPr lang="en-US" sz="1250" b="1" dirty="0">
                <a:solidFill>
                  <a:srgbClr val="6FE0A8"/>
                </a:solidFill>
                <a:latin typeface="Calibri" pitchFamily="34" charset="0"/>
                <a:ea typeface="Calibri" pitchFamily="34" charset="-122"/>
                <a:cs typeface="Calibri" pitchFamily="34" charset="-120"/>
              </a:rPr>
              <a:t>FRIGIDAIRE®
</a:t>
            </a:r>
            <a:pPr indent="0" marL="0">
              <a:lnSpc>
                <a:spcPct val="135000"/>
              </a:lnSpc>
              <a:buNone/>
            </a:pPr>
            <a:r>
              <a:rPr lang="en-US" sz="1050" dirty="0">
                <a:solidFill>
                  <a:srgbClr val="8F9BB3"/>
                </a:solidFill>
                <a:latin typeface="Calibri" pitchFamily="34" charset="0"/>
                <a:ea typeface="Calibri" pitchFamily="34" charset="-122"/>
                <a:cs typeface="Calibri" pitchFamily="34" charset="-120"/>
              </a:rPr>
              <a:t>Classpath  </a:t>
            </a:r>
            <a:pPr indent="0" marL="0">
              <a:lnSpc>
                <a:spcPct val="135000"/>
              </a:lnSpc>
              <a:buNone/>
            </a:pPr>
            <a:r>
              <a:rPr lang="en-US" sz="1100" b="1" dirty="0">
                <a:solidFill>
                  <a:srgbClr val="6FE0A8"/>
                </a:solidFill>
                <a:latin typeface="Calibri" pitchFamily="34" charset="0"/>
                <a:ea typeface="Calibri" pitchFamily="34" charset="-122"/>
                <a:cs typeface="Calibri" pitchFamily="34" charset="-120"/>
              </a:rPr>
              <a:t>Appliances&gt;Kitchen Appliances&gt;Built-In Dishwashers
</a:t>
            </a:r>
            <a:pPr indent="0" marL="0">
              <a:lnSpc>
                <a:spcPct val="135000"/>
              </a:lnSpc>
              <a:buNone/>
            </a:pPr>
            <a:r>
              <a:rPr lang="en-US" sz="1050" dirty="0">
                <a:solidFill>
                  <a:srgbClr val="8F9BB3"/>
                </a:solidFill>
                <a:latin typeface="Calibri" pitchFamily="34" charset="0"/>
                <a:ea typeface="Calibri" pitchFamily="34" charset="-122"/>
                <a:cs typeface="Calibri" pitchFamily="34" charset="-120"/>
              </a:rPr>
              <a:t>Material  </a:t>
            </a:r>
            <a:pPr indent="0" marL="0">
              <a:lnSpc>
                <a:spcPct val="135000"/>
              </a:lnSpc>
              <a:buNone/>
            </a:pPr>
            <a:r>
              <a:rPr lang="en-US" sz="1250" b="1" dirty="0">
                <a:solidFill>
                  <a:srgbClr val="6FE0A8"/>
                </a:solidFill>
                <a:latin typeface="Calibri" pitchFamily="34" charset="0"/>
                <a:ea typeface="Calibri" pitchFamily="34" charset="-122"/>
                <a:cs typeface="Calibri" pitchFamily="34" charset="-120"/>
              </a:rPr>
              <a:t>Stainless Steel</a:t>
            </a:r>
            <a:endParaRPr lang="en-US" sz="1050" dirty="0"/>
          </a:p>
        </p:txBody>
      </p:sp>
      <p:sp>
        <p:nvSpPr>
          <p:cNvPr id="11" name="Shape 9"/>
          <p:cNvSpPr/>
          <p:nvPr/>
        </p:nvSpPr>
        <p:spPr>
          <a:xfrm>
            <a:off x="4023360" y="1554480"/>
            <a:ext cx="7589520" cy="859536"/>
          </a:xfrm>
          <a:prstGeom prst="roundRect">
            <a:avLst>
              <a:gd name="adj" fmla="val 8511"/>
            </a:avLst>
          </a:prstGeom>
          <a:solidFill>
            <a:srgbClr val="1A2244"/>
          </a:solidFill>
          <a:ln w="12700">
            <a:solidFill>
              <a:srgbClr val="2A3A66"/>
            </a:solidFill>
            <a:prstDash val="solid"/>
          </a:ln>
        </p:spPr>
      </p:sp>
      <p:sp>
        <p:nvSpPr>
          <p:cNvPr id="12" name="Text 10"/>
          <p:cNvSpPr/>
          <p:nvPr/>
        </p:nvSpPr>
        <p:spPr>
          <a:xfrm>
            <a:off x="4251960" y="1645920"/>
            <a:ext cx="7132320" cy="256032"/>
          </a:xfrm>
          <a:prstGeom prst="rect">
            <a:avLst/>
          </a:prstGeom>
          <a:noFill/>
          <a:ln/>
        </p:spPr>
        <p:txBody>
          <a:bodyPr wrap="square" lIns="0" tIns="0" rIns="0" bIns="0" rtlCol="0" anchor="ctr"/>
          <a:lstStyle/>
          <a:p>
            <a:pPr indent="0" marL="0">
              <a:buNone/>
            </a:pPr>
            <a:r>
              <a:rPr lang="en-US" sz="950" b="1" spc="50" kern="0" dirty="0">
                <a:solidFill>
                  <a:srgbClr val="6FA1FF"/>
                </a:solidFill>
                <a:latin typeface="Calibri" pitchFamily="34" charset="0"/>
                <a:ea typeface="Calibri" pitchFamily="34" charset="-122"/>
                <a:cs typeface="Calibri" pitchFamily="34" charset="-120"/>
              </a:rPr>
              <a:t>INVOICE_DESC (≤40, CAPS)</a:t>
            </a:r>
            <a:endParaRPr lang="en-US" sz="950" dirty="0"/>
          </a:p>
        </p:txBody>
      </p:sp>
      <p:sp>
        <p:nvSpPr>
          <p:cNvPr id="13" name="Text 11"/>
          <p:cNvSpPr/>
          <p:nvPr/>
        </p:nvSpPr>
        <p:spPr>
          <a:xfrm>
            <a:off x="4251960" y="1901952"/>
            <a:ext cx="7132320" cy="45720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DISHWASHER SST</a:t>
            </a:r>
            <a:endParaRPr lang="en-US" sz="1300" dirty="0"/>
          </a:p>
        </p:txBody>
      </p:sp>
      <p:sp>
        <p:nvSpPr>
          <p:cNvPr id="14" name="Shape 12"/>
          <p:cNvSpPr/>
          <p:nvPr/>
        </p:nvSpPr>
        <p:spPr>
          <a:xfrm>
            <a:off x="4023360" y="2523744"/>
            <a:ext cx="7589520" cy="859536"/>
          </a:xfrm>
          <a:prstGeom prst="roundRect">
            <a:avLst>
              <a:gd name="adj" fmla="val 8511"/>
            </a:avLst>
          </a:prstGeom>
          <a:solidFill>
            <a:srgbClr val="1A2244"/>
          </a:solidFill>
          <a:ln w="12700">
            <a:solidFill>
              <a:srgbClr val="2A3A66"/>
            </a:solidFill>
            <a:prstDash val="solid"/>
          </a:ln>
        </p:spPr>
      </p:sp>
      <p:sp>
        <p:nvSpPr>
          <p:cNvPr id="15" name="Text 13"/>
          <p:cNvSpPr/>
          <p:nvPr/>
        </p:nvSpPr>
        <p:spPr>
          <a:xfrm>
            <a:off x="4251960" y="2615184"/>
            <a:ext cx="7132320" cy="256032"/>
          </a:xfrm>
          <a:prstGeom prst="rect">
            <a:avLst/>
          </a:prstGeom>
          <a:noFill/>
          <a:ln/>
        </p:spPr>
        <p:txBody>
          <a:bodyPr wrap="square" lIns="0" tIns="0" rIns="0" bIns="0" rtlCol="0" anchor="ctr"/>
          <a:lstStyle/>
          <a:p>
            <a:pPr indent="0" marL="0">
              <a:buNone/>
            </a:pPr>
            <a:r>
              <a:rPr lang="en-US" sz="950" b="1" spc="50" kern="0" dirty="0">
                <a:solidFill>
                  <a:srgbClr val="6FA1FF"/>
                </a:solidFill>
                <a:latin typeface="Calibri" pitchFamily="34" charset="0"/>
                <a:ea typeface="Calibri" pitchFamily="34" charset="-122"/>
                <a:cs typeface="Calibri" pitchFamily="34" charset="-120"/>
              </a:rPr>
              <a:t>MOBILE_DESC</a:t>
            </a:r>
            <a:endParaRPr lang="en-US" sz="950" dirty="0"/>
          </a:p>
        </p:txBody>
      </p:sp>
      <p:sp>
        <p:nvSpPr>
          <p:cNvPr id="16" name="Text 14"/>
          <p:cNvSpPr/>
          <p:nvPr/>
        </p:nvSpPr>
        <p:spPr>
          <a:xfrm>
            <a:off x="4251960" y="2871216"/>
            <a:ext cx="7132320" cy="4572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Rheem Manufacturing FRIGIDAIRE, Dishwasher, PDSH4816AF</a:t>
            </a:r>
            <a:endParaRPr lang="en-US" sz="1300" dirty="0"/>
          </a:p>
        </p:txBody>
      </p:sp>
      <p:sp>
        <p:nvSpPr>
          <p:cNvPr id="17" name="Shape 15"/>
          <p:cNvSpPr/>
          <p:nvPr/>
        </p:nvSpPr>
        <p:spPr>
          <a:xfrm>
            <a:off x="4023360" y="3493008"/>
            <a:ext cx="7589520" cy="859536"/>
          </a:xfrm>
          <a:prstGeom prst="roundRect">
            <a:avLst>
              <a:gd name="adj" fmla="val 8511"/>
            </a:avLst>
          </a:prstGeom>
          <a:solidFill>
            <a:srgbClr val="1A2244"/>
          </a:solidFill>
          <a:ln w="12700">
            <a:solidFill>
              <a:srgbClr val="2A3A66"/>
            </a:solidFill>
            <a:prstDash val="solid"/>
          </a:ln>
        </p:spPr>
      </p:sp>
      <p:sp>
        <p:nvSpPr>
          <p:cNvPr id="18" name="Text 16"/>
          <p:cNvSpPr/>
          <p:nvPr/>
        </p:nvSpPr>
        <p:spPr>
          <a:xfrm>
            <a:off x="4251960" y="3584448"/>
            <a:ext cx="7132320" cy="256032"/>
          </a:xfrm>
          <a:prstGeom prst="rect">
            <a:avLst/>
          </a:prstGeom>
          <a:noFill/>
          <a:ln/>
        </p:spPr>
        <p:txBody>
          <a:bodyPr wrap="square" lIns="0" tIns="0" rIns="0" bIns="0" rtlCol="0" anchor="ctr"/>
          <a:lstStyle/>
          <a:p>
            <a:pPr indent="0" marL="0">
              <a:buNone/>
            </a:pPr>
            <a:r>
              <a:rPr lang="en-US" sz="950" b="1" spc="50" kern="0" dirty="0">
                <a:solidFill>
                  <a:srgbClr val="6FA1FF"/>
                </a:solidFill>
                <a:latin typeface="Calibri" pitchFamily="34" charset="0"/>
                <a:ea typeface="Calibri" pitchFamily="34" charset="-122"/>
                <a:cs typeface="Calibri" pitchFamily="34" charset="-120"/>
              </a:rPr>
              <a:t>PRODUCT TITLE</a:t>
            </a:r>
            <a:endParaRPr lang="en-US" sz="950" dirty="0"/>
          </a:p>
        </p:txBody>
      </p:sp>
      <p:sp>
        <p:nvSpPr>
          <p:cNvPr id="19" name="Text 17"/>
          <p:cNvSpPr/>
          <p:nvPr/>
        </p:nvSpPr>
        <p:spPr>
          <a:xfrm>
            <a:off x="4251960" y="3840480"/>
            <a:ext cx="7132320" cy="4572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FRIGIDAIRE® PDSH4816AF Dishwasher, Stainless Steel</a:t>
            </a:r>
            <a:endParaRPr lang="en-US" sz="1300" dirty="0"/>
          </a:p>
        </p:txBody>
      </p:sp>
      <p:sp>
        <p:nvSpPr>
          <p:cNvPr id="20" name="Shape 18"/>
          <p:cNvSpPr/>
          <p:nvPr/>
        </p:nvSpPr>
        <p:spPr>
          <a:xfrm>
            <a:off x="4023360" y="4462272"/>
            <a:ext cx="7589520" cy="859536"/>
          </a:xfrm>
          <a:prstGeom prst="roundRect">
            <a:avLst>
              <a:gd name="adj" fmla="val 8511"/>
            </a:avLst>
          </a:prstGeom>
          <a:solidFill>
            <a:srgbClr val="1A2244"/>
          </a:solidFill>
          <a:ln w="12700">
            <a:solidFill>
              <a:srgbClr val="2A3A66"/>
            </a:solidFill>
            <a:prstDash val="solid"/>
          </a:ln>
        </p:spPr>
      </p:sp>
      <p:sp>
        <p:nvSpPr>
          <p:cNvPr id="21" name="Text 19"/>
          <p:cNvSpPr/>
          <p:nvPr/>
        </p:nvSpPr>
        <p:spPr>
          <a:xfrm>
            <a:off x="4251960" y="4553712"/>
            <a:ext cx="7132320" cy="256032"/>
          </a:xfrm>
          <a:prstGeom prst="rect">
            <a:avLst/>
          </a:prstGeom>
          <a:noFill/>
          <a:ln/>
        </p:spPr>
        <p:txBody>
          <a:bodyPr wrap="square" lIns="0" tIns="0" rIns="0" bIns="0" rtlCol="0" anchor="ctr"/>
          <a:lstStyle/>
          <a:p>
            <a:pPr indent="0" marL="0">
              <a:buNone/>
            </a:pPr>
            <a:r>
              <a:rPr lang="en-US" sz="950" b="1" spc="50" kern="0" dirty="0">
                <a:solidFill>
                  <a:srgbClr val="6FA1FF"/>
                </a:solidFill>
                <a:latin typeface="Calibri" pitchFamily="34" charset="0"/>
                <a:ea typeface="Calibri" pitchFamily="34" charset="-122"/>
                <a:cs typeface="Calibri" pitchFamily="34" charset="-120"/>
              </a:rPr>
              <a:t>SHORT_DESC</a:t>
            </a:r>
            <a:endParaRPr lang="en-US" sz="950" dirty="0"/>
          </a:p>
        </p:txBody>
      </p:sp>
      <p:sp>
        <p:nvSpPr>
          <p:cNvPr id="22" name="Text 20"/>
          <p:cNvSpPr/>
          <p:nvPr/>
        </p:nvSpPr>
        <p:spPr>
          <a:xfrm>
            <a:off x="4251960" y="4809744"/>
            <a:ext cx="7132320" cy="4572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Dishwasher, Stainless Steel</a:t>
            </a:r>
            <a:endParaRPr lang="en-US" sz="1300" dirty="0"/>
          </a:p>
        </p:txBody>
      </p:sp>
      <p:sp>
        <p:nvSpPr>
          <p:cNvPr id="23" name="Text 21"/>
          <p:cNvSpPr/>
          <p:nvPr/>
        </p:nvSpPr>
        <p:spPr>
          <a:xfrm>
            <a:off x="548640" y="5806440"/>
            <a:ext cx="11064240" cy="566928"/>
          </a:xfrm>
          <a:prstGeom prst="rect">
            <a:avLst/>
          </a:prstGeom>
          <a:noFill/>
          <a:ln/>
        </p:spPr>
        <p:txBody>
          <a:bodyPr wrap="square" lIns="0" tIns="0" rIns="0" bIns="0" rtlCol="0" anchor="ctr"/>
          <a:lstStyle/>
          <a:p>
            <a:pPr indent="0" marL="0">
              <a:lnSpc>
                <a:spcPct val="115000"/>
              </a:lnSpc>
              <a:buNone/>
            </a:pPr>
            <a:r>
              <a:rPr lang="en-US" sz="1000" i="1" dirty="0">
                <a:solidFill>
                  <a:srgbClr val="AEB8CC"/>
                </a:solidFill>
                <a:latin typeface="Calibri" pitchFamily="34" charset="0"/>
                <a:ea typeface="Calibri" pitchFamily="34" charset="-122"/>
                <a:cs typeface="Calibri" pitchFamily="34" charset="-120"/>
              </a:rPr>
              <a:t>100% match against verified ground truth on Manufacturer, Brand, and Classpath. Voltage / wash-cycle / dimension attributes correctly report UNKNOWN — they aren't present in this input and live manufacturer-source retrieval isn't available in this build environment (see docs/design-decisions.md) — so the system doesn't invent them.</a:t>
            </a:r>
            <a:endParaRPr lang="en-US" sz="1000" dirty="0"/>
          </a:p>
        </p:txBody>
      </p:sp>
      <p:sp>
        <p:nvSpPr>
          <p:cNvPr id="24" name="Text 22"/>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 / 20</a:t>
            </a:r>
            <a:endParaRPr lang="en-US" sz="900" dirty="0"/>
          </a:p>
        </p:txBody>
      </p:sp>
      <p:sp>
        <p:nvSpPr>
          <p:cNvPr id="25" name="Text 23"/>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8F9BB3"/>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Measured, not claimed</a:t>
            </a:r>
            <a:endParaRPr lang="en-US" sz="3000" dirty="0"/>
          </a:p>
        </p:txBody>
      </p:sp>
      <p:sp>
        <p:nvSpPr>
          <p:cNvPr id="4" name="Text 2"/>
          <p:cNvSpPr/>
          <p:nvPr/>
        </p:nvSpPr>
        <p:spPr>
          <a:xfrm>
            <a:off x="548640" y="1481328"/>
            <a:ext cx="10789920" cy="41148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Two evaluation surfaces: field accuracy against verified ground truth, and coverage/quality across the full unlabeled batch.</a:t>
            </a:r>
            <a:endParaRPr lang="en-US" sz="1300" dirty="0"/>
          </a:p>
        </p:txBody>
      </p:sp>
      <p:sp>
        <p:nvSpPr>
          <p:cNvPr id="5" name="Text 3"/>
          <p:cNvSpPr/>
          <p:nvPr/>
        </p:nvSpPr>
        <p:spPr>
          <a:xfrm>
            <a:off x="548640" y="1965960"/>
            <a:ext cx="7315200" cy="274320"/>
          </a:xfrm>
          <a:prstGeom prst="rect">
            <a:avLst/>
          </a:prstGeom>
          <a:noFill/>
          <a:ln/>
        </p:spPr>
        <p:txBody>
          <a:bodyPr wrap="square" lIns="0" tIns="0" rIns="0" bIns="0" rtlCol="0" anchor="ctr"/>
          <a:lstStyle/>
          <a:p>
            <a:pPr indent="0" marL="0">
              <a:buNone/>
            </a:pPr>
            <a:r>
              <a:rPr lang="en-US" sz="1100" b="1" spc="50" kern="0" dirty="0">
                <a:solidFill>
                  <a:srgbClr val="1D5FD6"/>
                </a:solidFill>
                <a:latin typeface="Calibri" pitchFamily="34" charset="0"/>
                <a:ea typeface="Calibri" pitchFamily="34" charset="-122"/>
                <a:cs typeface="Calibri" pitchFamily="34" charset="-120"/>
              </a:rPr>
              <a:t>GROUND-TRUTH FIELD ACCURACY  (2/2 verified rows)</a:t>
            </a:r>
            <a:endParaRPr lang="en-US" sz="1100" dirty="0"/>
          </a:p>
        </p:txBody>
      </p:sp>
      <p:sp>
        <p:nvSpPr>
          <p:cNvPr id="6" name="Shape 4"/>
          <p:cNvSpPr/>
          <p:nvPr/>
        </p:nvSpPr>
        <p:spPr>
          <a:xfrm>
            <a:off x="548640" y="2286000"/>
            <a:ext cx="2084832" cy="1234440"/>
          </a:xfrm>
          <a:prstGeom prst="roundRect">
            <a:avLst>
              <a:gd name="adj" fmla="val 5926"/>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7" name="Text 5"/>
          <p:cNvSpPr/>
          <p:nvPr/>
        </p:nvSpPr>
        <p:spPr>
          <a:xfrm>
            <a:off x="685800" y="2395728"/>
            <a:ext cx="1810512" cy="678942"/>
          </a:xfrm>
          <a:prstGeom prst="rect">
            <a:avLst/>
          </a:prstGeom>
          <a:noFill/>
          <a:ln/>
        </p:spPr>
        <p:txBody>
          <a:bodyPr wrap="square" lIns="0" tIns="0" rIns="0" bIns="0" rtlCol="0" anchor="b"/>
          <a:lstStyle/>
          <a:p>
            <a:pPr algn="l" indent="0" marL="0">
              <a:buNone/>
            </a:pPr>
            <a:r>
              <a:rPr lang="en-US" sz="2600" b="1" dirty="0">
                <a:solidFill>
                  <a:srgbClr val="12805C"/>
                </a:solidFill>
                <a:latin typeface="Cambria" pitchFamily="34" charset="0"/>
                <a:ea typeface="Cambria" pitchFamily="34" charset="-122"/>
                <a:cs typeface="Cambria" pitchFamily="34" charset="-120"/>
              </a:rPr>
              <a:t>100%</a:t>
            </a:r>
            <a:endParaRPr lang="en-US" sz="2600" dirty="0"/>
          </a:p>
        </p:txBody>
      </p:sp>
      <p:sp>
        <p:nvSpPr>
          <p:cNvPr id="8" name="Text 6"/>
          <p:cNvSpPr/>
          <p:nvPr/>
        </p:nvSpPr>
        <p:spPr>
          <a:xfrm>
            <a:off x="685800" y="3051353"/>
            <a:ext cx="1810512" cy="432054"/>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MANUFACTURER</a:t>
            </a:r>
            <a:endParaRPr lang="en-US" sz="950" dirty="0"/>
          </a:p>
        </p:txBody>
      </p:sp>
      <p:sp>
        <p:nvSpPr>
          <p:cNvPr id="9" name="Shape 7"/>
          <p:cNvSpPr/>
          <p:nvPr/>
        </p:nvSpPr>
        <p:spPr>
          <a:xfrm>
            <a:off x="2761488" y="2286000"/>
            <a:ext cx="2084832" cy="1234440"/>
          </a:xfrm>
          <a:prstGeom prst="roundRect">
            <a:avLst>
              <a:gd name="adj" fmla="val 5926"/>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0" name="Text 8"/>
          <p:cNvSpPr/>
          <p:nvPr/>
        </p:nvSpPr>
        <p:spPr>
          <a:xfrm>
            <a:off x="2898648" y="2395728"/>
            <a:ext cx="1810512" cy="678942"/>
          </a:xfrm>
          <a:prstGeom prst="rect">
            <a:avLst/>
          </a:prstGeom>
          <a:noFill/>
          <a:ln/>
        </p:spPr>
        <p:txBody>
          <a:bodyPr wrap="square" lIns="0" tIns="0" rIns="0" bIns="0" rtlCol="0" anchor="b"/>
          <a:lstStyle/>
          <a:p>
            <a:pPr algn="l" indent="0" marL="0">
              <a:buNone/>
            </a:pPr>
            <a:r>
              <a:rPr lang="en-US" sz="2600" b="1" dirty="0">
                <a:solidFill>
                  <a:srgbClr val="12805C"/>
                </a:solidFill>
                <a:latin typeface="Cambria" pitchFamily="34" charset="0"/>
                <a:ea typeface="Cambria" pitchFamily="34" charset="-122"/>
                <a:cs typeface="Cambria" pitchFamily="34" charset="-120"/>
              </a:rPr>
              <a:t>100%</a:t>
            </a:r>
            <a:endParaRPr lang="en-US" sz="2600" dirty="0"/>
          </a:p>
        </p:txBody>
      </p:sp>
      <p:sp>
        <p:nvSpPr>
          <p:cNvPr id="11" name="Text 9"/>
          <p:cNvSpPr/>
          <p:nvPr/>
        </p:nvSpPr>
        <p:spPr>
          <a:xfrm>
            <a:off x="2898648" y="3051353"/>
            <a:ext cx="1810512" cy="432054"/>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BRAND</a:t>
            </a:r>
            <a:endParaRPr lang="en-US" sz="950" dirty="0"/>
          </a:p>
        </p:txBody>
      </p:sp>
      <p:sp>
        <p:nvSpPr>
          <p:cNvPr id="12" name="Shape 10"/>
          <p:cNvSpPr/>
          <p:nvPr/>
        </p:nvSpPr>
        <p:spPr>
          <a:xfrm>
            <a:off x="4974336" y="2286000"/>
            <a:ext cx="2084832" cy="1234440"/>
          </a:xfrm>
          <a:prstGeom prst="roundRect">
            <a:avLst>
              <a:gd name="adj" fmla="val 5926"/>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3" name="Text 11"/>
          <p:cNvSpPr/>
          <p:nvPr/>
        </p:nvSpPr>
        <p:spPr>
          <a:xfrm>
            <a:off x="5111496" y="2395728"/>
            <a:ext cx="1810512" cy="678942"/>
          </a:xfrm>
          <a:prstGeom prst="rect">
            <a:avLst/>
          </a:prstGeom>
          <a:noFill/>
          <a:ln/>
        </p:spPr>
        <p:txBody>
          <a:bodyPr wrap="square" lIns="0" tIns="0" rIns="0" bIns="0" rtlCol="0" anchor="b"/>
          <a:lstStyle/>
          <a:p>
            <a:pPr algn="l" indent="0" marL="0">
              <a:buNone/>
            </a:pPr>
            <a:r>
              <a:rPr lang="en-US" sz="2600" b="1" dirty="0">
                <a:solidFill>
                  <a:srgbClr val="12805C"/>
                </a:solidFill>
                <a:latin typeface="Cambria" pitchFamily="34" charset="0"/>
                <a:ea typeface="Cambria" pitchFamily="34" charset="-122"/>
                <a:cs typeface="Cambria" pitchFamily="34" charset="-120"/>
              </a:rPr>
              <a:t>100%</a:t>
            </a:r>
            <a:endParaRPr lang="en-US" sz="2600" dirty="0"/>
          </a:p>
        </p:txBody>
      </p:sp>
      <p:sp>
        <p:nvSpPr>
          <p:cNvPr id="14" name="Text 12"/>
          <p:cNvSpPr/>
          <p:nvPr/>
        </p:nvSpPr>
        <p:spPr>
          <a:xfrm>
            <a:off x="5111496" y="3051353"/>
            <a:ext cx="1810512" cy="432054"/>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CLASSPATH</a:t>
            </a:r>
            <a:endParaRPr lang="en-US" sz="950" dirty="0"/>
          </a:p>
        </p:txBody>
      </p:sp>
      <p:sp>
        <p:nvSpPr>
          <p:cNvPr id="15" name="Shape 13"/>
          <p:cNvSpPr/>
          <p:nvPr/>
        </p:nvSpPr>
        <p:spPr>
          <a:xfrm>
            <a:off x="7187184" y="2286000"/>
            <a:ext cx="2084832" cy="1234440"/>
          </a:xfrm>
          <a:prstGeom prst="roundRect">
            <a:avLst>
              <a:gd name="adj" fmla="val 5926"/>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6" name="Text 14"/>
          <p:cNvSpPr/>
          <p:nvPr/>
        </p:nvSpPr>
        <p:spPr>
          <a:xfrm>
            <a:off x="7324344" y="2395728"/>
            <a:ext cx="1810512" cy="678942"/>
          </a:xfrm>
          <a:prstGeom prst="rect">
            <a:avLst/>
          </a:prstGeom>
          <a:noFill/>
          <a:ln/>
        </p:spPr>
        <p:txBody>
          <a:bodyPr wrap="square" lIns="0" tIns="0" rIns="0" bIns="0" rtlCol="0" anchor="b"/>
          <a:lstStyle/>
          <a:p>
            <a:pPr algn="l" indent="0" marL="0">
              <a:buNone/>
            </a:pPr>
            <a:r>
              <a:rPr lang="en-US" sz="2600" b="1" dirty="0">
                <a:solidFill>
                  <a:srgbClr val="12805C"/>
                </a:solidFill>
                <a:latin typeface="Cambria" pitchFamily="34" charset="0"/>
                <a:ea typeface="Cambria" pitchFamily="34" charset="-122"/>
                <a:cs typeface="Cambria" pitchFamily="34" charset="-120"/>
              </a:rPr>
              <a:t>100%</a:t>
            </a:r>
            <a:endParaRPr lang="en-US" sz="2600" dirty="0"/>
          </a:p>
        </p:txBody>
      </p:sp>
      <p:sp>
        <p:nvSpPr>
          <p:cNvPr id="17" name="Text 15"/>
          <p:cNvSpPr/>
          <p:nvPr/>
        </p:nvSpPr>
        <p:spPr>
          <a:xfrm>
            <a:off x="7324344" y="3051353"/>
            <a:ext cx="1810512" cy="432054"/>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DEPT/CLASS/FINE</a:t>
            </a:r>
            <a:endParaRPr lang="en-US" sz="950" dirty="0"/>
          </a:p>
        </p:txBody>
      </p:sp>
      <p:sp>
        <p:nvSpPr>
          <p:cNvPr id="18" name="Shape 16"/>
          <p:cNvSpPr/>
          <p:nvPr/>
        </p:nvSpPr>
        <p:spPr>
          <a:xfrm>
            <a:off x="9400032" y="2286000"/>
            <a:ext cx="2084832" cy="1234440"/>
          </a:xfrm>
          <a:prstGeom prst="roundRect">
            <a:avLst>
              <a:gd name="adj" fmla="val 5926"/>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9" name="Text 17"/>
          <p:cNvSpPr/>
          <p:nvPr/>
        </p:nvSpPr>
        <p:spPr>
          <a:xfrm>
            <a:off x="9537192" y="2395728"/>
            <a:ext cx="1810512" cy="678942"/>
          </a:xfrm>
          <a:prstGeom prst="rect">
            <a:avLst/>
          </a:prstGeom>
          <a:noFill/>
          <a:ln/>
        </p:spPr>
        <p:txBody>
          <a:bodyPr wrap="square" lIns="0" tIns="0" rIns="0" bIns="0" rtlCol="0" anchor="b"/>
          <a:lstStyle/>
          <a:p>
            <a:pPr algn="l" indent="0" marL="0">
              <a:buNone/>
            </a:pPr>
            <a:r>
              <a:rPr lang="en-US" sz="2600" b="1" dirty="0">
                <a:solidFill>
                  <a:srgbClr val="12805C"/>
                </a:solidFill>
                <a:latin typeface="Cambria" pitchFamily="34" charset="0"/>
                <a:ea typeface="Cambria" pitchFamily="34" charset="-122"/>
                <a:cs typeface="Cambria" pitchFamily="34" charset="-120"/>
              </a:rPr>
              <a:t>100%</a:t>
            </a:r>
            <a:endParaRPr lang="en-US" sz="2600" dirty="0"/>
          </a:p>
        </p:txBody>
      </p:sp>
      <p:sp>
        <p:nvSpPr>
          <p:cNvPr id="20" name="Text 18"/>
          <p:cNvSpPr/>
          <p:nvPr/>
        </p:nvSpPr>
        <p:spPr>
          <a:xfrm>
            <a:off x="9537192" y="3051353"/>
            <a:ext cx="1810512" cy="432054"/>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PRODUCT NAME</a:t>
            </a:r>
            <a:endParaRPr lang="en-US" sz="950" dirty="0"/>
          </a:p>
        </p:txBody>
      </p:sp>
      <p:sp>
        <p:nvSpPr>
          <p:cNvPr id="21" name="Text 19"/>
          <p:cNvSpPr/>
          <p:nvPr/>
        </p:nvSpPr>
        <p:spPr>
          <a:xfrm>
            <a:off x="548640" y="3794760"/>
            <a:ext cx="8229600" cy="274320"/>
          </a:xfrm>
          <a:prstGeom prst="rect">
            <a:avLst/>
          </a:prstGeom>
          <a:noFill/>
          <a:ln/>
        </p:spPr>
        <p:txBody>
          <a:bodyPr wrap="square" lIns="0" tIns="0" rIns="0" bIns="0" rtlCol="0" anchor="ctr"/>
          <a:lstStyle/>
          <a:p>
            <a:pPr indent="0" marL="0">
              <a:buNone/>
            </a:pPr>
            <a:r>
              <a:rPr lang="en-US" sz="1100" b="1" spc="50" kern="0" dirty="0">
                <a:solidFill>
                  <a:srgbClr val="1D5FD6"/>
                </a:solidFill>
                <a:latin typeface="Calibri" pitchFamily="34" charset="0"/>
                <a:ea typeface="Calibri" pitchFamily="34" charset="-122"/>
                <a:cs typeface="Calibri" pitchFamily="34" charset="-120"/>
              </a:rPr>
              <a:t>FULL-BATCH COVERAGE &amp; QUALITY  (1000 rows, no ground truth needed)</a:t>
            </a:r>
            <a:endParaRPr lang="en-US" sz="1100" dirty="0"/>
          </a:p>
        </p:txBody>
      </p:sp>
      <p:sp>
        <p:nvSpPr>
          <p:cNvPr id="22" name="Shape 20"/>
          <p:cNvSpPr/>
          <p:nvPr/>
        </p:nvSpPr>
        <p:spPr>
          <a:xfrm>
            <a:off x="548640" y="4114800"/>
            <a:ext cx="3520440" cy="960120"/>
          </a:xfrm>
          <a:prstGeom prst="roundRect">
            <a:avLst>
              <a:gd name="adj" fmla="val 7619"/>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23" name="Text 21"/>
          <p:cNvSpPr/>
          <p:nvPr/>
        </p:nvSpPr>
        <p:spPr>
          <a:xfrm>
            <a:off x="685800" y="4224528"/>
            <a:ext cx="3246120" cy="528066"/>
          </a:xfrm>
          <a:prstGeom prst="rect">
            <a:avLst/>
          </a:prstGeom>
          <a:noFill/>
          <a:ln/>
        </p:spPr>
        <p:txBody>
          <a:bodyPr wrap="square" lIns="0" tIns="0" rIns="0" bIns="0" rtlCol="0" anchor="b"/>
          <a:lstStyle/>
          <a:p>
            <a:pPr algn="l" indent="0" marL="0">
              <a:buNone/>
            </a:pPr>
            <a:r>
              <a:rPr lang="en-US" sz="2200" b="1" dirty="0">
                <a:solidFill>
                  <a:srgbClr val="111827"/>
                </a:solidFill>
                <a:latin typeface="Cambria" pitchFamily="34" charset="0"/>
                <a:ea typeface="Cambria" pitchFamily="34" charset="-122"/>
                <a:cs typeface="Cambria" pitchFamily="34" charset="-120"/>
              </a:rPr>
              <a:t>96.1%</a:t>
            </a:r>
            <a:endParaRPr lang="en-US" sz="2200" dirty="0"/>
          </a:p>
        </p:txBody>
      </p:sp>
      <p:sp>
        <p:nvSpPr>
          <p:cNvPr id="24" name="Text 22"/>
          <p:cNvSpPr/>
          <p:nvPr/>
        </p:nvSpPr>
        <p:spPr>
          <a:xfrm>
            <a:off x="685800" y="4710074"/>
            <a:ext cx="3246120" cy="33604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MANUFACTURER RESOLVED</a:t>
            </a:r>
            <a:endParaRPr lang="en-US" sz="950" dirty="0"/>
          </a:p>
        </p:txBody>
      </p:sp>
      <p:sp>
        <p:nvSpPr>
          <p:cNvPr id="25" name="Shape 23"/>
          <p:cNvSpPr/>
          <p:nvPr/>
        </p:nvSpPr>
        <p:spPr>
          <a:xfrm>
            <a:off x="4224528" y="4114800"/>
            <a:ext cx="3520440" cy="960120"/>
          </a:xfrm>
          <a:prstGeom prst="roundRect">
            <a:avLst>
              <a:gd name="adj" fmla="val 7619"/>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26" name="Text 24"/>
          <p:cNvSpPr/>
          <p:nvPr/>
        </p:nvSpPr>
        <p:spPr>
          <a:xfrm>
            <a:off x="4361688" y="4224528"/>
            <a:ext cx="3246120" cy="528066"/>
          </a:xfrm>
          <a:prstGeom prst="rect">
            <a:avLst/>
          </a:prstGeom>
          <a:noFill/>
          <a:ln/>
        </p:spPr>
        <p:txBody>
          <a:bodyPr wrap="square" lIns="0" tIns="0" rIns="0" bIns="0" rtlCol="0" anchor="b"/>
          <a:lstStyle/>
          <a:p>
            <a:pPr algn="l" indent="0" marL="0">
              <a:buNone/>
            </a:pPr>
            <a:r>
              <a:rPr lang="en-US" sz="2200" b="1" dirty="0">
                <a:solidFill>
                  <a:srgbClr val="111827"/>
                </a:solidFill>
                <a:latin typeface="Cambria" pitchFamily="34" charset="0"/>
                <a:ea typeface="Cambria" pitchFamily="34" charset="-122"/>
                <a:cs typeface="Cambria" pitchFamily="34" charset="-120"/>
              </a:rPr>
              <a:t>96.1%</a:t>
            </a:r>
            <a:endParaRPr lang="en-US" sz="2200" dirty="0"/>
          </a:p>
        </p:txBody>
      </p:sp>
      <p:sp>
        <p:nvSpPr>
          <p:cNvPr id="27" name="Text 25"/>
          <p:cNvSpPr/>
          <p:nvPr/>
        </p:nvSpPr>
        <p:spPr>
          <a:xfrm>
            <a:off x="4361688" y="4710074"/>
            <a:ext cx="3246120" cy="33604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VALIDATION PASS RATE</a:t>
            </a:r>
            <a:endParaRPr lang="en-US" sz="950" dirty="0"/>
          </a:p>
        </p:txBody>
      </p:sp>
      <p:sp>
        <p:nvSpPr>
          <p:cNvPr id="28" name="Shape 26"/>
          <p:cNvSpPr/>
          <p:nvPr/>
        </p:nvSpPr>
        <p:spPr>
          <a:xfrm>
            <a:off x="7900416" y="4114800"/>
            <a:ext cx="3520440" cy="960120"/>
          </a:xfrm>
          <a:prstGeom prst="roundRect">
            <a:avLst>
              <a:gd name="adj" fmla="val 7619"/>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29" name="Text 27"/>
          <p:cNvSpPr/>
          <p:nvPr/>
        </p:nvSpPr>
        <p:spPr>
          <a:xfrm>
            <a:off x="8037576" y="4224528"/>
            <a:ext cx="3246120" cy="528066"/>
          </a:xfrm>
          <a:prstGeom prst="rect">
            <a:avLst/>
          </a:prstGeom>
          <a:noFill/>
          <a:ln/>
        </p:spPr>
        <p:txBody>
          <a:bodyPr wrap="square" lIns="0" tIns="0" rIns="0" bIns="0" rtlCol="0" anchor="b"/>
          <a:lstStyle/>
          <a:p>
            <a:pPr algn="l" indent="0" marL="0">
              <a:buNone/>
            </a:pPr>
            <a:r>
              <a:rPr lang="en-US" sz="2200" b="1" dirty="0">
                <a:solidFill>
                  <a:srgbClr val="111827"/>
                </a:solidFill>
                <a:latin typeface="Cambria" pitchFamily="34" charset="0"/>
                <a:ea typeface="Cambria" pitchFamily="34" charset="-122"/>
                <a:cs typeface="Cambria" pitchFamily="34" charset="-120"/>
              </a:rPr>
              <a:t>69.5%</a:t>
            </a:r>
            <a:endParaRPr lang="en-US" sz="2200" dirty="0"/>
          </a:p>
        </p:txBody>
      </p:sp>
      <p:sp>
        <p:nvSpPr>
          <p:cNvPr id="30" name="Text 28"/>
          <p:cNvSpPr/>
          <p:nvPr/>
        </p:nvSpPr>
        <p:spPr>
          <a:xfrm>
            <a:off x="8037576" y="4710074"/>
            <a:ext cx="3246120" cy="33604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GROUNDEDNESS</a:t>
            </a:r>
            <a:endParaRPr lang="en-US" sz="950" dirty="0"/>
          </a:p>
        </p:txBody>
      </p:sp>
      <p:sp>
        <p:nvSpPr>
          <p:cNvPr id="31" name="Shape 29"/>
          <p:cNvSpPr/>
          <p:nvPr/>
        </p:nvSpPr>
        <p:spPr>
          <a:xfrm>
            <a:off x="548640" y="5193792"/>
            <a:ext cx="3520440" cy="960120"/>
          </a:xfrm>
          <a:prstGeom prst="roundRect">
            <a:avLst>
              <a:gd name="adj" fmla="val 7619"/>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32" name="Text 30"/>
          <p:cNvSpPr/>
          <p:nvPr/>
        </p:nvSpPr>
        <p:spPr>
          <a:xfrm>
            <a:off x="685800" y="5303520"/>
            <a:ext cx="3246120" cy="528066"/>
          </a:xfrm>
          <a:prstGeom prst="rect">
            <a:avLst/>
          </a:prstGeom>
          <a:noFill/>
          <a:ln/>
        </p:spPr>
        <p:txBody>
          <a:bodyPr wrap="square" lIns="0" tIns="0" rIns="0" bIns="0" rtlCol="0" anchor="b"/>
          <a:lstStyle/>
          <a:p>
            <a:pPr algn="l" indent="0" marL="0">
              <a:buNone/>
            </a:pPr>
            <a:r>
              <a:rPr lang="en-US" sz="2200" b="1" dirty="0">
                <a:solidFill>
                  <a:srgbClr val="111827"/>
                </a:solidFill>
                <a:latin typeface="Cambria" pitchFamily="34" charset="0"/>
                <a:ea typeface="Cambria" pitchFamily="34" charset="-122"/>
                <a:cs typeface="Cambria" pitchFamily="34" charset="-120"/>
              </a:rPr>
              <a:t>26.8%</a:t>
            </a:r>
            <a:endParaRPr lang="en-US" sz="2200" dirty="0"/>
          </a:p>
        </p:txBody>
      </p:sp>
      <p:sp>
        <p:nvSpPr>
          <p:cNvPr id="33" name="Text 31"/>
          <p:cNvSpPr/>
          <p:nvPr/>
        </p:nvSpPr>
        <p:spPr>
          <a:xfrm>
            <a:off x="685800" y="5789066"/>
            <a:ext cx="3246120" cy="33604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CLASSIFICATION RESOLVED</a:t>
            </a:r>
            <a:endParaRPr lang="en-US" sz="950" dirty="0"/>
          </a:p>
        </p:txBody>
      </p:sp>
      <p:sp>
        <p:nvSpPr>
          <p:cNvPr id="34" name="Shape 32"/>
          <p:cNvSpPr/>
          <p:nvPr/>
        </p:nvSpPr>
        <p:spPr>
          <a:xfrm>
            <a:off x="4224528" y="5193792"/>
            <a:ext cx="3520440" cy="960120"/>
          </a:xfrm>
          <a:prstGeom prst="roundRect">
            <a:avLst>
              <a:gd name="adj" fmla="val 7619"/>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35" name="Text 33"/>
          <p:cNvSpPr/>
          <p:nvPr/>
        </p:nvSpPr>
        <p:spPr>
          <a:xfrm>
            <a:off x="4361688" y="5303520"/>
            <a:ext cx="3246120" cy="528066"/>
          </a:xfrm>
          <a:prstGeom prst="rect">
            <a:avLst/>
          </a:prstGeom>
          <a:noFill/>
          <a:ln/>
        </p:spPr>
        <p:txBody>
          <a:bodyPr wrap="square" lIns="0" tIns="0" rIns="0" bIns="0" rtlCol="0" anchor="b"/>
          <a:lstStyle/>
          <a:p>
            <a:pPr algn="l" indent="0" marL="0">
              <a:buNone/>
            </a:pPr>
            <a:r>
              <a:rPr lang="en-US" sz="2200" b="1" dirty="0">
                <a:solidFill>
                  <a:srgbClr val="111827"/>
                </a:solidFill>
                <a:latin typeface="Cambria" pitchFamily="34" charset="0"/>
                <a:ea typeface="Cambria" pitchFamily="34" charset="-122"/>
                <a:cs typeface="Cambria" pitchFamily="34" charset="-120"/>
              </a:rPr>
              <a:t>67.6%</a:t>
            </a:r>
            <a:endParaRPr lang="en-US" sz="2200" dirty="0"/>
          </a:p>
        </p:txBody>
      </p:sp>
      <p:sp>
        <p:nvSpPr>
          <p:cNvPr id="36" name="Text 34"/>
          <p:cNvSpPr/>
          <p:nvPr/>
        </p:nvSpPr>
        <p:spPr>
          <a:xfrm>
            <a:off x="4361688" y="5789066"/>
            <a:ext cx="3246120" cy="33604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AVG. CONFIDENCE</a:t>
            </a:r>
            <a:endParaRPr lang="en-US" sz="950" dirty="0"/>
          </a:p>
        </p:txBody>
      </p:sp>
      <p:sp>
        <p:nvSpPr>
          <p:cNvPr id="37" name="Shape 35"/>
          <p:cNvSpPr/>
          <p:nvPr/>
        </p:nvSpPr>
        <p:spPr>
          <a:xfrm>
            <a:off x="7900416" y="5193792"/>
            <a:ext cx="3520440" cy="960120"/>
          </a:xfrm>
          <a:prstGeom prst="roundRect">
            <a:avLst>
              <a:gd name="adj" fmla="val 7619"/>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38" name="Text 36"/>
          <p:cNvSpPr/>
          <p:nvPr/>
        </p:nvSpPr>
        <p:spPr>
          <a:xfrm>
            <a:off x="8037576" y="5303520"/>
            <a:ext cx="3246120" cy="528066"/>
          </a:xfrm>
          <a:prstGeom prst="rect">
            <a:avLst/>
          </a:prstGeom>
          <a:noFill/>
          <a:ln/>
        </p:spPr>
        <p:txBody>
          <a:bodyPr wrap="square" lIns="0" tIns="0" rIns="0" bIns="0" rtlCol="0" anchor="b"/>
          <a:lstStyle/>
          <a:p>
            <a:pPr algn="l" indent="0" marL="0">
              <a:buNone/>
            </a:pPr>
            <a:r>
              <a:rPr lang="en-US" sz="2200" b="1" dirty="0">
                <a:solidFill>
                  <a:srgbClr val="111827"/>
                </a:solidFill>
                <a:latin typeface="Cambria" pitchFamily="34" charset="0"/>
                <a:ea typeface="Cambria" pitchFamily="34" charset="-122"/>
                <a:cs typeface="Cambria" pitchFamily="34" charset="-120"/>
              </a:rPr>
              <a:t>77.1%</a:t>
            </a:r>
            <a:endParaRPr lang="en-US" sz="2200" dirty="0"/>
          </a:p>
        </p:txBody>
      </p:sp>
      <p:sp>
        <p:nvSpPr>
          <p:cNvPr id="39" name="Text 37"/>
          <p:cNvSpPr/>
          <p:nvPr/>
        </p:nvSpPr>
        <p:spPr>
          <a:xfrm>
            <a:off x="8037576" y="5789066"/>
            <a:ext cx="3246120" cy="336042"/>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REVIEW RATE</a:t>
            </a:r>
            <a:endParaRPr lang="en-US" sz="950" dirty="0"/>
          </a:p>
        </p:txBody>
      </p:sp>
      <p:sp>
        <p:nvSpPr>
          <p:cNvPr id="40" name="Text 38"/>
          <p:cNvSpPr/>
          <p:nvPr/>
        </p:nvSpPr>
        <p:spPr>
          <a:xfrm>
            <a:off x="548640" y="6400800"/>
            <a:ext cx="110642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Only 2 verified ground-truth rows were part of this challenge's provided resources (not the full 200-item benchmark) — the evaluation harness scales to more automatically, zero code changes.</a:t>
            </a:r>
            <a:endParaRPr lang="en-US" sz="950" dirty="0"/>
          </a:p>
        </p:txBody>
      </p:sp>
      <p:sp>
        <p:nvSpPr>
          <p:cNvPr id="41" name="Text 39"/>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 / 20</a:t>
            </a:r>
            <a:endParaRPr lang="en-US" sz="900" dirty="0"/>
          </a:p>
        </p:txBody>
      </p:sp>
      <p:sp>
        <p:nvSpPr>
          <p:cNvPr id="42" name="Text 40"/>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SCALABILITY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Built to scale past this prototype's 1,000 rows</a:t>
            </a:r>
            <a:endParaRPr lang="en-US" sz="3000" dirty="0"/>
          </a:p>
        </p:txBody>
      </p:sp>
      <p:sp>
        <p:nvSpPr>
          <p:cNvPr id="4" name="Shape 2"/>
          <p:cNvSpPr/>
          <p:nvPr/>
        </p:nvSpPr>
        <p:spPr>
          <a:xfrm>
            <a:off x="548640" y="1691640"/>
            <a:ext cx="3520440" cy="1371600"/>
          </a:xfrm>
          <a:prstGeom prst="roundRect">
            <a:avLst>
              <a:gd name="adj" fmla="val 5333"/>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685800" y="1801368"/>
            <a:ext cx="3246120" cy="754380"/>
          </a:xfrm>
          <a:prstGeom prst="rect">
            <a:avLst/>
          </a:prstGeom>
          <a:noFill/>
          <a:ln/>
        </p:spPr>
        <p:txBody>
          <a:bodyPr wrap="square" lIns="0" tIns="0" rIns="0" bIns="0" rtlCol="0" anchor="b"/>
          <a:lstStyle/>
          <a:p>
            <a:pPr algn="l" indent="0" marL="0">
              <a:buNone/>
            </a:pPr>
            <a:r>
              <a:rPr lang="en-US" sz="3000" b="1" dirty="0">
                <a:solidFill>
                  <a:srgbClr val="1D5FD6"/>
                </a:solidFill>
                <a:latin typeface="Cambria" pitchFamily="34" charset="0"/>
                <a:ea typeface="Cambria" pitchFamily="34" charset="-122"/>
                <a:cs typeface="Cambria" pitchFamily="34" charset="-120"/>
              </a:rPr>
              <a:t>~780</a:t>
            </a:r>
            <a:endParaRPr lang="en-US" sz="3000" dirty="0"/>
          </a:p>
        </p:txBody>
      </p:sp>
      <p:sp>
        <p:nvSpPr>
          <p:cNvPr id="6" name="Text 4"/>
          <p:cNvSpPr/>
          <p:nvPr/>
        </p:nvSpPr>
        <p:spPr>
          <a:xfrm>
            <a:off x="685800" y="2542032"/>
            <a:ext cx="3246120" cy="480060"/>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ROWS / SECOND, SINGLE PROCESS</a:t>
            </a:r>
            <a:endParaRPr lang="en-US" sz="950" dirty="0"/>
          </a:p>
        </p:txBody>
      </p:sp>
      <p:sp>
        <p:nvSpPr>
          <p:cNvPr id="7" name="Shape 5"/>
          <p:cNvSpPr/>
          <p:nvPr/>
        </p:nvSpPr>
        <p:spPr>
          <a:xfrm>
            <a:off x="4297680" y="1691640"/>
            <a:ext cx="3520440" cy="1371600"/>
          </a:xfrm>
          <a:prstGeom prst="roundRect">
            <a:avLst>
              <a:gd name="adj" fmla="val 5333"/>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8" name="Text 6"/>
          <p:cNvSpPr/>
          <p:nvPr/>
        </p:nvSpPr>
        <p:spPr>
          <a:xfrm>
            <a:off x="4434840" y="1801368"/>
            <a:ext cx="3246120" cy="754380"/>
          </a:xfrm>
          <a:prstGeom prst="rect">
            <a:avLst/>
          </a:prstGeom>
          <a:noFill/>
          <a:ln/>
        </p:spPr>
        <p:txBody>
          <a:bodyPr wrap="square" lIns="0" tIns="0" rIns="0" bIns="0" rtlCol="0" anchor="b"/>
          <a:lstStyle/>
          <a:p>
            <a:pPr algn="l" indent="0" marL="0">
              <a:buNone/>
            </a:pPr>
            <a:r>
              <a:rPr lang="en-US" sz="3000" b="1" dirty="0">
                <a:solidFill>
                  <a:srgbClr val="1D5FD6"/>
                </a:solidFill>
                <a:latin typeface="Cambria" pitchFamily="34" charset="0"/>
                <a:ea typeface="Cambria" pitchFamily="34" charset="-122"/>
                <a:cs typeface="Cambria" pitchFamily="34" charset="-120"/>
              </a:rPr>
              <a:t>1.3s</a:t>
            </a:r>
            <a:endParaRPr lang="en-US" sz="3000" dirty="0"/>
          </a:p>
        </p:txBody>
      </p:sp>
      <p:sp>
        <p:nvSpPr>
          <p:cNvPr id="9" name="Text 7"/>
          <p:cNvSpPr/>
          <p:nvPr/>
        </p:nvSpPr>
        <p:spPr>
          <a:xfrm>
            <a:off x="4434840" y="2542032"/>
            <a:ext cx="3246120" cy="480060"/>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TO PROCESS THE FULL 1,000-ROW BATCH</a:t>
            </a:r>
            <a:endParaRPr lang="en-US" sz="950" dirty="0"/>
          </a:p>
        </p:txBody>
      </p:sp>
      <p:sp>
        <p:nvSpPr>
          <p:cNvPr id="10" name="Shape 8"/>
          <p:cNvSpPr/>
          <p:nvPr/>
        </p:nvSpPr>
        <p:spPr>
          <a:xfrm>
            <a:off x="8046720" y="1691640"/>
            <a:ext cx="3520440" cy="1371600"/>
          </a:xfrm>
          <a:prstGeom prst="roundRect">
            <a:avLst>
              <a:gd name="adj" fmla="val 5333"/>
            </a:avLst>
          </a:prstGeom>
          <a:solidFill>
            <a:srgbClr val="FFFFFF"/>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1" name="Text 9"/>
          <p:cNvSpPr/>
          <p:nvPr/>
        </p:nvSpPr>
        <p:spPr>
          <a:xfrm>
            <a:off x="8183880" y="1801368"/>
            <a:ext cx="3246120" cy="754380"/>
          </a:xfrm>
          <a:prstGeom prst="rect">
            <a:avLst/>
          </a:prstGeom>
          <a:noFill/>
          <a:ln/>
        </p:spPr>
        <p:txBody>
          <a:bodyPr wrap="square" lIns="0" tIns="0" rIns="0" bIns="0" rtlCol="0" anchor="b"/>
          <a:lstStyle/>
          <a:p>
            <a:pPr algn="l" indent="0" marL="0">
              <a:buNone/>
            </a:pPr>
            <a:r>
              <a:rPr lang="en-US" sz="3000" b="1" dirty="0">
                <a:solidFill>
                  <a:srgbClr val="1D5FD6"/>
                </a:solidFill>
                <a:latin typeface="Cambria" pitchFamily="34" charset="0"/>
                <a:ea typeface="Cambria" pitchFamily="34" charset="-122"/>
                <a:cs typeface="Cambria" pitchFamily="34" charset="-120"/>
              </a:rPr>
              <a:t>0</a:t>
            </a:r>
            <a:endParaRPr lang="en-US" sz="3000" dirty="0"/>
          </a:p>
        </p:txBody>
      </p:sp>
      <p:sp>
        <p:nvSpPr>
          <p:cNvPr id="12" name="Text 10"/>
          <p:cNvSpPr/>
          <p:nvPr/>
        </p:nvSpPr>
        <p:spPr>
          <a:xfrm>
            <a:off x="8183880" y="2542032"/>
            <a:ext cx="3246120" cy="480060"/>
          </a:xfrm>
          <a:prstGeom prst="rect">
            <a:avLst/>
          </a:prstGeom>
          <a:noFill/>
          <a:ln/>
        </p:spPr>
        <p:txBody>
          <a:bodyPr wrap="square" lIns="0" tIns="0" rIns="0" bIns="0" rtlCol="0" anchor="t"/>
          <a:lstStyle/>
          <a:p>
            <a:pPr indent="0" marL="0">
              <a:buNone/>
            </a:pPr>
            <a:r>
              <a:rPr lang="en-US" sz="950" b="1" spc="50" kern="0" dirty="0">
                <a:solidFill>
                  <a:srgbClr val="5B6472"/>
                </a:solidFill>
                <a:latin typeface="Calibri" pitchFamily="34" charset="0"/>
                <a:ea typeface="Calibri" pitchFamily="34" charset="-122"/>
                <a:cs typeface="Calibri" pitchFamily="34" charset="-120"/>
              </a:rPr>
              <a:t>BATCHES LOST TO A SINGLE BAD ROW</a:t>
            </a:r>
            <a:endParaRPr lang="en-US" sz="950" dirty="0"/>
          </a:p>
        </p:txBody>
      </p:sp>
      <p:sp>
        <p:nvSpPr>
          <p:cNvPr id="13" name="Text 11"/>
          <p:cNvSpPr/>
          <p:nvPr/>
        </p:nvSpPr>
        <p:spPr>
          <a:xfrm>
            <a:off x="548640" y="3429000"/>
            <a:ext cx="10789920" cy="3017520"/>
          </a:xfrm>
          <a:prstGeom prst="rect">
            <a:avLst/>
          </a:prstGeom>
          <a:noFill/>
          <a:ln/>
        </p:spPr>
        <p:txBody>
          <a:bodyPr wrap="square" lIns="0" tIns="0" rIns="0" bIns="0" rtlCol="0" anchor="t"/>
          <a:lstStyle/>
          <a:p>
            <a:pPr marL="228600" indent="-228600">
              <a:spcAft>
                <a:spcPts val="1400"/>
              </a:spcAft>
              <a:buSzPct val="100000"/>
              <a:buChar char="▪"/>
            </a:pPr>
            <a:r>
              <a:rPr lang="en-US" sz="1400" dirty="0">
                <a:solidFill>
                  <a:srgbClr val="1A2233"/>
                </a:solidFill>
                <a:latin typeface="Calibri" pitchFamily="34" charset="0"/>
                <a:ea typeface="Calibri" pitchFamily="34" charset="-122"/>
                <a:cs typeface="Calibri" pitchFamily="34" charset="-120"/>
              </a:rPr>
              <a:t>Per-record isolation — a malformed row gets STATUS_PROCESSING_FAILED and the batch continues, never a fatal crash</a:t>
            </a:r>
            <a:endParaRPr lang="en-US" sz="1400" dirty="0"/>
          </a:p>
          <a:p>
            <a:pPr marL="228600" indent="-228600">
              <a:spcAft>
                <a:spcPts val="1400"/>
              </a:spcAft>
              <a:buSzPct val="100000"/>
              <a:buChar char="▪"/>
            </a:pPr>
            <a:r>
              <a:rPr lang="en-US" sz="1400" dirty="0">
                <a:solidFill>
                  <a:srgbClr val="1A2233"/>
                </a:solidFill>
                <a:latin typeface="Calibri" pitchFamily="34" charset="0"/>
                <a:ea typeface="Calibri" pitchFamily="34" charset="-122"/>
                <a:cs typeface="Calibri" pitchFamily="34" charset="-120"/>
              </a:rPr>
              <a:t>process_batch() is a pure function over a row list — the seam where a Celery/RQ worker pool drops in for 100K–1M+ scale</a:t>
            </a:r>
            <a:endParaRPr lang="en-US" sz="1400" dirty="0"/>
          </a:p>
          <a:p>
            <a:pPr marL="228600" indent="-228600">
              <a:spcAft>
                <a:spcPts val="1400"/>
              </a:spcAft>
              <a:buSzPct val="100000"/>
              <a:buChar char="▪"/>
            </a:pPr>
            <a:r>
              <a:rPr lang="en-US" sz="1400" dirty="0">
                <a:solidFill>
                  <a:srgbClr val="1A2233"/>
                </a:solidFill>
                <a:latin typeface="Calibri" pitchFamily="34" charset="0"/>
                <a:ea typeface="Calibri" pitchFamily="34" charset="-122"/>
                <a:cs typeface="Calibri" pitchFamily="34" charset="-120"/>
              </a:rPr>
              <a:t>Entity resolution / classification / LOV validation are dictionary lookups; the one O(n) fuzzy-match fallback has a clear indexing path if manufacturer master data grows</a:t>
            </a:r>
            <a:endParaRPr lang="en-US" sz="1400" dirty="0"/>
          </a:p>
          <a:p>
            <a:pPr marL="228600" indent="-228600">
              <a:spcAft>
                <a:spcPts val="1400"/>
              </a:spcAft>
              <a:buSzPct val="100000"/>
              <a:buChar char="▪"/>
            </a:pPr>
            <a:r>
              <a:rPr lang="en-US" sz="1400" dirty="0">
                <a:solidFill>
                  <a:srgbClr val="1A2233"/>
                </a:solidFill>
                <a:latin typeface="Calibri" pitchFamily="34" charset="0"/>
                <a:ea typeface="Calibri" pitchFamily="34" charset="-122"/>
                <a:cs typeface="Calibri" pitchFamily="34" charset="-120"/>
              </a:rPr>
              <a:t>Caching seams at every external-call boundary (LLM calls, retrieval) keyed by (mpn, manufacturer, task) — ready for incremental re-enrichment</a:t>
            </a:r>
            <a:endParaRPr lang="en-US" sz="1400" dirty="0"/>
          </a:p>
        </p:txBody>
      </p:sp>
      <p:sp>
        <p:nvSpPr>
          <p:cNvPr id="14" name="Text 12"/>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 / 20</a:t>
            </a:r>
            <a:endParaRPr lang="en-US" sz="900" dirty="0"/>
          </a:p>
        </p:txBody>
      </p:sp>
      <p:sp>
        <p:nvSpPr>
          <p:cNvPr id="15" name="Text 13"/>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From manual research to a review queue</a:t>
            </a:r>
            <a:endParaRPr lang="en-US" sz="3000" dirty="0"/>
          </a:p>
        </p:txBody>
      </p:sp>
      <p:sp>
        <p:nvSpPr>
          <p:cNvPr id="4" name="Shape 2"/>
          <p:cNvSpPr/>
          <p:nvPr/>
        </p:nvSpPr>
        <p:spPr>
          <a:xfrm>
            <a:off x="548640" y="1691640"/>
            <a:ext cx="5303520" cy="3108960"/>
          </a:xfrm>
          <a:prstGeom prst="roundRect">
            <a:avLst>
              <a:gd name="adj" fmla="val 2353"/>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822960" y="1874520"/>
            <a:ext cx="4754880" cy="365760"/>
          </a:xfrm>
          <a:prstGeom prst="rect">
            <a:avLst/>
          </a:prstGeom>
          <a:noFill/>
          <a:ln/>
        </p:spPr>
        <p:txBody>
          <a:bodyPr wrap="square" lIns="0" tIns="0" rIns="0" bIns="0" rtlCol="0" anchor="ctr"/>
          <a:lstStyle/>
          <a:p>
            <a:pPr indent="0" marL="0">
              <a:buNone/>
            </a:pPr>
            <a:r>
              <a:rPr lang="en-US" sz="1400" b="1" spc="100" kern="0" dirty="0">
                <a:solidFill>
                  <a:srgbClr val="111827"/>
                </a:solidFill>
                <a:latin typeface="Calibri" pitchFamily="34" charset="0"/>
                <a:ea typeface="Calibri" pitchFamily="34" charset="-122"/>
                <a:cs typeface="Calibri" pitchFamily="34" charset="-120"/>
              </a:rPr>
              <a:t>TODAY</a:t>
            </a:r>
            <a:endParaRPr lang="en-US" sz="1400" dirty="0"/>
          </a:p>
        </p:txBody>
      </p:sp>
      <p:sp>
        <p:nvSpPr>
          <p:cNvPr id="6" name="Text 4"/>
          <p:cNvSpPr/>
          <p:nvPr/>
        </p:nvSpPr>
        <p:spPr>
          <a:xfrm>
            <a:off x="822960" y="2331720"/>
            <a:ext cx="4754880" cy="237744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A catalog analyst manually researches and types product data per SKU</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No consistent record of why a value was chosen</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Errors surface only after publishing</a:t>
            </a:r>
            <a:endParaRPr lang="en-US" sz="1300" dirty="0"/>
          </a:p>
        </p:txBody>
      </p:sp>
      <p:sp>
        <p:nvSpPr>
          <p:cNvPr id="7" name="Shape 5"/>
          <p:cNvSpPr/>
          <p:nvPr/>
        </p:nvSpPr>
        <p:spPr>
          <a:xfrm>
            <a:off x="6126480" y="1691640"/>
            <a:ext cx="5303520" cy="3108960"/>
          </a:xfrm>
          <a:prstGeom prst="roundRect">
            <a:avLst>
              <a:gd name="adj" fmla="val 2353"/>
            </a:avLst>
          </a:prstGeom>
          <a:solidFill>
            <a:srgbClr val="E8F0FE"/>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8" name="Text 6"/>
          <p:cNvSpPr/>
          <p:nvPr/>
        </p:nvSpPr>
        <p:spPr>
          <a:xfrm>
            <a:off x="6400800" y="1874520"/>
            <a:ext cx="4754880" cy="365760"/>
          </a:xfrm>
          <a:prstGeom prst="rect">
            <a:avLst/>
          </a:prstGeom>
          <a:noFill/>
          <a:ln/>
        </p:spPr>
        <p:txBody>
          <a:bodyPr wrap="square" lIns="0" tIns="0" rIns="0" bIns="0" rtlCol="0" anchor="ctr"/>
          <a:lstStyle/>
          <a:p>
            <a:pPr indent="0" marL="0">
              <a:buNone/>
            </a:pPr>
            <a:r>
              <a:rPr lang="en-US" sz="1400" b="1" spc="100" kern="0" dirty="0">
                <a:solidFill>
                  <a:srgbClr val="1D5FD6"/>
                </a:solidFill>
                <a:latin typeface="Calibri" pitchFamily="34" charset="0"/>
                <a:ea typeface="Calibri" pitchFamily="34" charset="-122"/>
                <a:cs typeface="Calibri" pitchFamily="34" charset="-120"/>
              </a:rPr>
              <a:t>WITH THIS SYSTEM</a:t>
            </a:r>
            <a:endParaRPr lang="en-US" sz="1400" dirty="0"/>
          </a:p>
        </p:txBody>
      </p:sp>
      <p:sp>
        <p:nvSpPr>
          <p:cNvPr id="9" name="Text 7"/>
          <p:cNvSpPr/>
          <p:nvPr/>
        </p:nvSpPr>
        <p:spPr>
          <a:xfrm>
            <a:off x="6400800" y="2331720"/>
            <a:ext cx="4754880" cy="237744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Structured, validated, evidenced records compiled automatically</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A review queue shows exactly which records need a human, and why</a:t>
            </a:r>
            <a:endParaRPr lang="en-US" sz="1300" dirty="0"/>
          </a:p>
          <a:p>
            <a:pPr marL="228600" indent="-2286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Every value is traceable to its source and confidence</a:t>
            </a:r>
            <a:endParaRPr lang="en-US" sz="1300" dirty="0"/>
          </a:p>
        </p:txBody>
      </p:sp>
      <p:sp>
        <p:nvSpPr>
          <p:cNvPr id="10" name="Text 8"/>
          <p:cNvSpPr/>
          <p:nvPr/>
        </p:nvSpPr>
        <p:spPr>
          <a:xfrm>
            <a:off x="548640" y="5029200"/>
            <a:ext cx="10881360" cy="731520"/>
          </a:xfrm>
          <a:prstGeom prst="rect">
            <a:avLst/>
          </a:prstGeom>
          <a:noFill/>
          <a:ln/>
        </p:spPr>
        <p:txBody>
          <a:bodyPr wrap="square" lIns="0" tIns="0" rIns="0" bIns="0" rtlCol="0" anchor="ctr"/>
          <a:lstStyle/>
          <a:p>
            <a:pPr indent="0" marL="0">
              <a:lnSpc>
                <a:spcPct val="130000"/>
              </a:lnSpc>
              <a:buNone/>
            </a:pPr>
            <a:r>
              <a:rPr lang="en-US" sz="1350" i="1" dirty="0">
                <a:solidFill>
                  <a:srgbClr val="5B6472"/>
                </a:solidFill>
                <a:latin typeface="Calibri" pitchFamily="34" charset="0"/>
                <a:ea typeface="Calibri" pitchFamily="34" charset="-122"/>
                <a:cs typeface="Calibri" pitchFamily="34" charset="-120"/>
              </a:rPr>
              <a:t>A review queue that shows a human exactly what to check — instead of everything — is the multiplier: analysts spend their time on the 3% that's genuinely ambiguous, not re-verifying the 97% that isn't.</a:t>
            </a:r>
            <a:endParaRPr lang="en-US" sz="1350" dirty="0"/>
          </a:p>
        </p:txBody>
      </p:sp>
      <p:sp>
        <p:nvSpPr>
          <p:cNvPr id="11" name="Text 9"/>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 / 20</a:t>
            </a:r>
            <a:endParaRPr lang="en-US" sz="900" dirty="0"/>
          </a:p>
        </p:txBody>
      </p:sp>
      <p:sp>
        <p:nvSpPr>
          <p:cNvPr id="12" name="Text 10"/>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1D5FD6"/>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111827"/>
                </a:solidFill>
                <a:latin typeface="Cambria" pitchFamily="34" charset="0"/>
                <a:ea typeface="Cambria" pitchFamily="34" charset="-122"/>
                <a:cs typeface="Cambria" pitchFamily="34" charset="-120"/>
              </a:rPr>
              <a:t>Four views, all live pipeline output</a:t>
            </a:r>
            <a:endParaRPr lang="en-US" sz="3000" dirty="0"/>
          </a:p>
        </p:txBody>
      </p:sp>
      <p:sp>
        <p:nvSpPr>
          <p:cNvPr id="4" name="Shape 2"/>
          <p:cNvSpPr/>
          <p:nvPr/>
        </p:nvSpPr>
        <p:spPr>
          <a:xfrm>
            <a:off x="548640" y="1691640"/>
            <a:ext cx="5303520" cy="2103120"/>
          </a:xfrm>
          <a:prstGeom prst="roundRect">
            <a:avLst>
              <a:gd name="adj" fmla="val 3478"/>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822960" y="1920240"/>
            <a:ext cx="640080" cy="640080"/>
          </a:xfrm>
          <a:prstGeom prst="rect">
            <a:avLst/>
          </a:prstGeom>
          <a:noFill/>
          <a:ln/>
        </p:spPr>
        <p:txBody>
          <a:bodyPr wrap="square" lIns="0" tIns="0" rIns="0" bIns="0" rtlCol="0" anchor="ctr"/>
          <a:lstStyle/>
          <a:p>
            <a:pPr indent="0" marL="0">
              <a:buNone/>
            </a:pPr>
            <a:r>
              <a:rPr lang="en-US" sz="2600" b="1" dirty="0">
                <a:solidFill>
                  <a:srgbClr val="1D5FD6"/>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554480" y="1965960"/>
            <a:ext cx="4023360" cy="45720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Product Enrichment</a:t>
            </a:r>
            <a:endParaRPr lang="en-US" sz="1550" dirty="0"/>
          </a:p>
        </p:txBody>
      </p:sp>
      <p:sp>
        <p:nvSpPr>
          <p:cNvPr id="7" name="Text 5"/>
          <p:cNvSpPr/>
          <p:nvPr/>
        </p:nvSpPr>
        <p:spPr>
          <a:xfrm>
            <a:off x="1554480" y="2441448"/>
            <a:ext cx="4023360" cy="1188720"/>
          </a:xfrm>
          <a:prstGeom prst="rect">
            <a:avLst/>
          </a:prstGeom>
          <a:noFill/>
          <a:ln/>
        </p:spPr>
        <p:txBody>
          <a:bodyPr wrap="square" lIns="0" tIns="0" rIns="0" bIns="0" rtlCol="0" anchor="ctr"/>
          <a:lstStyle/>
          <a:p>
            <a:pPr indent="0" marL="0">
              <a:lnSpc>
                <a:spcPct val="125000"/>
              </a:lnSpc>
              <a:buNone/>
            </a:pPr>
            <a:r>
              <a:rPr lang="en-US" sz="1200" dirty="0">
                <a:solidFill>
                  <a:srgbClr val="5B6472"/>
                </a:solidFill>
                <a:latin typeface="Calibri" pitchFamily="34" charset="0"/>
                <a:ea typeface="Calibri" pitchFamily="34" charset="-122"/>
                <a:cs typeface="Calibri" pitchFamily="34" charset="-120"/>
              </a:rPr>
              <a:t>Type any raw description — including one that's never been seen — and watch it move through the pipeline live.</a:t>
            </a:r>
            <a:endParaRPr lang="en-US" sz="1200" dirty="0"/>
          </a:p>
        </p:txBody>
      </p:sp>
      <p:sp>
        <p:nvSpPr>
          <p:cNvPr id="8" name="Shape 6"/>
          <p:cNvSpPr/>
          <p:nvPr/>
        </p:nvSpPr>
        <p:spPr>
          <a:xfrm>
            <a:off x="6126480" y="1691640"/>
            <a:ext cx="5303520" cy="2103120"/>
          </a:xfrm>
          <a:prstGeom prst="roundRect">
            <a:avLst>
              <a:gd name="adj" fmla="val 3478"/>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9" name="Text 7"/>
          <p:cNvSpPr/>
          <p:nvPr/>
        </p:nvSpPr>
        <p:spPr>
          <a:xfrm>
            <a:off x="6400800" y="1920240"/>
            <a:ext cx="640080" cy="640080"/>
          </a:xfrm>
          <a:prstGeom prst="rect">
            <a:avLst/>
          </a:prstGeom>
          <a:noFill/>
          <a:ln/>
        </p:spPr>
        <p:txBody>
          <a:bodyPr wrap="square" lIns="0" tIns="0" rIns="0" bIns="0" rtlCol="0" anchor="ctr"/>
          <a:lstStyle/>
          <a:p>
            <a:pPr indent="0" marL="0">
              <a:buNone/>
            </a:pPr>
            <a:r>
              <a:rPr lang="en-US" sz="2600" b="1" dirty="0">
                <a:solidFill>
                  <a:srgbClr val="1D5FD6"/>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7132320" y="1965960"/>
            <a:ext cx="4023360" cy="45720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Batch Upload</a:t>
            </a:r>
            <a:endParaRPr lang="en-US" sz="1550" dirty="0"/>
          </a:p>
        </p:txBody>
      </p:sp>
      <p:sp>
        <p:nvSpPr>
          <p:cNvPr id="11" name="Text 9"/>
          <p:cNvSpPr/>
          <p:nvPr/>
        </p:nvSpPr>
        <p:spPr>
          <a:xfrm>
            <a:off x="7132320" y="2441448"/>
            <a:ext cx="4023360" cy="1188720"/>
          </a:xfrm>
          <a:prstGeom prst="rect">
            <a:avLst/>
          </a:prstGeom>
          <a:noFill/>
          <a:ln/>
        </p:spPr>
        <p:txBody>
          <a:bodyPr wrap="square" lIns="0" tIns="0" rIns="0" bIns="0" rtlCol="0" anchor="ctr"/>
          <a:lstStyle/>
          <a:p>
            <a:pPr indent="0" marL="0">
              <a:lnSpc>
                <a:spcPct val="125000"/>
              </a:lnSpc>
              <a:buNone/>
            </a:pPr>
            <a:r>
              <a:rPr lang="en-US" sz="1200" dirty="0">
                <a:solidFill>
                  <a:srgbClr val="5B6472"/>
                </a:solidFill>
                <a:latin typeface="Calibri" pitchFamily="34" charset="0"/>
                <a:ea typeface="Calibri" pitchFamily="34" charset="-122"/>
                <a:cs typeface="Calibri" pitchFamily="34" charset="-120"/>
              </a:rPr>
              <a:t>Process the full 1,000-row sample and download all 252 official columns, exactly spelled.</a:t>
            </a:r>
            <a:endParaRPr lang="en-US" sz="1200" dirty="0"/>
          </a:p>
        </p:txBody>
      </p:sp>
      <p:sp>
        <p:nvSpPr>
          <p:cNvPr id="12" name="Shape 10"/>
          <p:cNvSpPr/>
          <p:nvPr/>
        </p:nvSpPr>
        <p:spPr>
          <a:xfrm>
            <a:off x="548640" y="4023360"/>
            <a:ext cx="5303520" cy="2103120"/>
          </a:xfrm>
          <a:prstGeom prst="roundRect">
            <a:avLst>
              <a:gd name="adj" fmla="val 3478"/>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3" name="Text 11"/>
          <p:cNvSpPr/>
          <p:nvPr/>
        </p:nvSpPr>
        <p:spPr>
          <a:xfrm>
            <a:off x="822960" y="4251960"/>
            <a:ext cx="640080" cy="640080"/>
          </a:xfrm>
          <a:prstGeom prst="rect">
            <a:avLst/>
          </a:prstGeom>
          <a:noFill/>
          <a:ln/>
        </p:spPr>
        <p:txBody>
          <a:bodyPr wrap="square" lIns="0" tIns="0" rIns="0" bIns="0" rtlCol="0" anchor="ctr"/>
          <a:lstStyle/>
          <a:p>
            <a:pPr indent="0" marL="0">
              <a:buNone/>
            </a:pPr>
            <a:r>
              <a:rPr lang="en-US" sz="2600" b="1" dirty="0">
                <a:solidFill>
                  <a:srgbClr val="1D5FD6"/>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1554480" y="4297680"/>
            <a:ext cx="4023360" cy="45720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Review Queue</a:t>
            </a:r>
            <a:endParaRPr lang="en-US" sz="1550" dirty="0"/>
          </a:p>
        </p:txBody>
      </p:sp>
      <p:sp>
        <p:nvSpPr>
          <p:cNvPr id="15" name="Text 13"/>
          <p:cNvSpPr/>
          <p:nvPr/>
        </p:nvSpPr>
        <p:spPr>
          <a:xfrm>
            <a:off x="1554480" y="4773168"/>
            <a:ext cx="4023360" cy="1188720"/>
          </a:xfrm>
          <a:prstGeom prst="rect">
            <a:avLst/>
          </a:prstGeom>
          <a:noFill/>
          <a:ln/>
        </p:spPr>
        <p:txBody>
          <a:bodyPr wrap="square" lIns="0" tIns="0" rIns="0" bIns="0" rtlCol="0" anchor="ctr"/>
          <a:lstStyle/>
          <a:p>
            <a:pPr indent="0" marL="0">
              <a:lnSpc>
                <a:spcPct val="125000"/>
              </a:lnSpc>
              <a:buNone/>
            </a:pPr>
            <a:r>
              <a:rPr lang="en-US" sz="1200" dirty="0">
                <a:solidFill>
                  <a:srgbClr val="5B6472"/>
                </a:solidFill>
                <a:latin typeface="Calibri" pitchFamily="34" charset="0"/>
                <a:ea typeface="Calibri" pitchFamily="34" charset="-122"/>
                <a:cs typeface="Calibri" pitchFamily="34" charset="-120"/>
              </a:rPr>
              <a:t>See exactly why each flagged record needs a human, with evidence and reasons.</a:t>
            </a:r>
            <a:endParaRPr lang="en-US" sz="1200" dirty="0"/>
          </a:p>
        </p:txBody>
      </p:sp>
      <p:sp>
        <p:nvSpPr>
          <p:cNvPr id="16" name="Shape 14"/>
          <p:cNvSpPr/>
          <p:nvPr/>
        </p:nvSpPr>
        <p:spPr>
          <a:xfrm>
            <a:off x="6126480" y="4023360"/>
            <a:ext cx="5303520" cy="2103120"/>
          </a:xfrm>
          <a:prstGeom prst="roundRect">
            <a:avLst>
              <a:gd name="adj" fmla="val 3478"/>
            </a:avLst>
          </a:prstGeom>
          <a:solidFill>
            <a:srgbClr val="EEF1F6"/>
          </a:solidFill>
          <a:ln w="12700">
            <a:solidFill>
              <a:srgbClr val="E2E6EC"/>
            </a:solidFill>
            <a:prstDash val="solid"/>
          </a:ln>
          <a:effectLst>
            <a:outerShdw sx="100000" sy="100000" kx="0" ky="0" algn="bl" rotWithShape="0" blurRad="76200" dist="25400" dir="5400000">
              <a:srgbClr val="1A2233">
                <a:alpha val="8000"/>
              </a:srgbClr>
            </a:outerShdw>
          </a:effectLst>
        </p:spPr>
      </p:sp>
      <p:sp>
        <p:nvSpPr>
          <p:cNvPr id="17" name="Text 15"/>
          <p:cNvSpPr/>
          <p:nvPr/>
        </p:nvSpPr>
        <p:spPr>
          <a:xfrm>
            <a:off x="6400800" y="4251960"/>
            <a:ext cx="640080" cy="640080"/>
          </a:xfrm>
          <a:prstGeom prst="rect">
            <a:avLst/>
          </a:prstGeom>
          <a:noFill/>
          <a:ln/>
        </p:spPr>
        <p:txBody>
          <a:bodyPr wrap="square" lIns="0" tIns="0" rIns="0" bIns="0" rtlCol="0" anchor="ctr"/>
          <a:lstStyle/>
          <a:p>
            <a:pPr indent="0" marL="0">
              <a:buNone/>
            </a:pPr>
            <a:r>
              <a:rPr lang="en-US" sz="2600" b="1" dirty="0">
                <a:solidFill>
                  <a:srgbClr val="1D5FD6"/>
                </a:solidFill>
                <a:latin typeface="Cambria" pitchFamily="34" charset="0"/>
                <a:ea typeface="Cambria" pitchFamily="34" charset="-122"/>
                <a:cs typeface="Cambria" pitchFamily="34" charset="-120"/>
              </a:rPr>
              <a:t>4</a:t>
            </a:r>
            <a:endParaRPr lang="en-US" sz="2600" dirty="0"/>
          </a:p>
        </p:txBody>
      </p:sp>
      <p:sp>
        <p:nvSpPr>
          <p:cNvPr id="18" name="Text 16"/>
          <p:cNvSpPr/>
          <p:nvPr/>
        </p:nvSpPr>
        <p:spPr>
          <a:xfrm>
            <a:off x="7132320" y="4297680"/>
            <a:ext cx="4023360" cy="457200"/>
          </a:xfrm>
          <a:prstGeom prst="rect">
            <a:avLst/>
          </a:prstGeom>
          <a:noFill/>
          <a:ln/>
        </p:spPr>
        <p:txBody>
          <a:bodyPr wrap="square" lIns="0" tIns="0" rIns="0" bIns="0" rtlCol="0" anchor="ctr"/>
          <a:lstStyle/>
          <a:p>
            <a:pPr indent="0" marL="0">
              <a:buNone/>
            </a:pPr>
            <a:r>
              <a:rPr lang="en-US" sz="1550" b="1" dirty="0">
                <a:solidFill>
                  <a:srgbClr val="111827"/>
                </a:solidFill>
                <a:latin typeface="Calibri" pitchFamily="34" charset="0"/>
                <a:ea typeface="Calibri" pitchFamily="34" charset="-122"/>
                <a:cs typeface="Calibri" pitchFamily="34" charset="-120"/>
              </a:rPr>
              <a:t>Evaluation</a:t>
            </a:r>
            <a:endParaRPr lang="en-US" sz="1550" dirty="0"/>
          </a:p>
        </p:txBody>
      </p:sp>
      <p:sp>
        <p:nvSpPr>
          <p:cNvPr id="19" name="Text 17"/>
          <p:cNvSpPr/>
          <p:nvPr/>
        </p:nvSpPr>
        <p:spPr>
          <a:xfrm>
            <a:off x="7132320" y="4773168"/>
            <a:ext cx="4023360" cy="1188720"/>
          </a:xfrm>
          <a:prstGeom prst="rect">
            <a:avLst/>
          </a:prstGeom>
          <a:noFill/>
          <a:ln/>
        </p:spPr>
        <p:txBody>
          <a:bodyPr wrap="square" lIns="0" tIns="0" rIns="0" bIns="0" rtlCol="0" anchor="ctr"/>
          <a:lstStyle/>
          <a:p>
            <a:pPr indent="0" marL="0">
              <a:lnSpc>
                <a:spcPct val="125000"/>
              </a:lnSpc>
              <a:buNone/>
            </a:pPr>
            <a:r>
              <a:rPr lang="en-US" sz="1200" dirty="0">
                <a:solidFill>
                  <a:srgbClr val="5B6472"/>
                </a:solidFill>
                <a:latin typeface="Calibri" pitchFamily="34" charset="0"/>
                <a:ea typeface="Calibri" pitchFamily="34" charset="-122"/>
                <a:cs typeface="Calibri" pitchFamily="34" charset="-120"/>
              </a:rPr>
              <a:t>Run the evaluator live — the numbers on slide 15, regenerated in front of you.</a:t>
            </a:r>
            <a:endParaRPr lang="en-US" sz="1200" dirty="0"/>
          </a:p>
        </p:txBody>
      </p:sp>
      <p:sp>
        <p:nvSpPr>
          <p:cNvPr id="20" name="Text 18"/>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 / 20</a:t>
            </a:r>
            <a:endParaRPr lang="en-US" sz="900" dirty="0"/>
          </a:p>
        </p:txBody>
      </p:sp>
      <p:sp>
        <p:nvSpPr>
          <p:cNvPr id="21" name="Text 19"/>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5B6472"/>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200" b="1" spc="200" kern="0" dirty="0">
                <a:solidFill>
                  <a:srgbClr val="6FA1FF"/>
                </a:solidFill>
                <a:latin typeface="Calibri" pitchFamily="34" charset="0"/>
                <a:ea typeface="Calibri" pitchFamily="34" charset="-122"/>
                <a:cs typeface="Calibri" pitchFamily="34" charset="-120"/>
              </a:rPr>
              <a:t>WHY THIS IS DIFFERENTIATED</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Five pillars, plus one non-negotiable</a:t>
            </a:r>
            <a:endParaRPr lang="en-US" sz="3000" dirty="0"/>
          </a:p>
        </p:txBody>
      </p:sp>
      <p:sp>
        <p:nvSpPr>
          <p:cNvPr id="4" name="Shape 2"/>
          <p:cNvSpPr/>
          <p:nvPr/>
        </p:nvSpPr>
        <p:spPr>
          <a:xfrm>
            <a:off x="548640" y="1691640"/>
            <a:ext cx="2084832" cy="1920240"/>
          </a:xfrm>
          <a:prstGeom prst="roundRect">
            <a:avLst>
              <a:gd name="adj" fmla="val 3810"/>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5" name="Text 3"/>
          <p:cNvSpPr/>
          <p:nvPr/>
        </p:nvSpPr>
        <p:spPr>
          <a:xfrm>
            <a:off x="713232" y="1874520"/>
            <a:ext cx="1783080" cy="502920"/>
          </a:xfrm>
          <a:prstGeom prst="rect">
            <a:avLst/>
          </a:prstGeom>
          <a:noFill/>
          <a:ln/>
        </p:spPr>
        <p:txBody>
          <a:bodyPr wrap="square" lIns="0" tIns="0" rIns="0" bIns="0" rtlCol="0" anchor="ctr"/>
          <a:lstStyle/>
          <a:p>
            <a:pPr indent="0" marL="0">
              <a:buNone/>
            </a:pPr>
            <a:r>
              <a:rPr lang="en-US" sz="1500" b="1" dirty="0">
                <a:solidFill>
                  <a:srgbClr val="6FE0A8"/>
                </a:solidFill>
                <a:latin typeface="Calibri" pitchFamily="34" charset="0"/>
                <a:ea typeface="Calibri" pitchFamily="34" charset="-122"/>
                <a:cs typeface="Calibri" pitchFamily="34" charset="-120"/>
              </a:rPr>
              <a:t>Grounded</a:t>
            </a:r>
            <a:endParaRPr lang="en-US" sz="1500" dirty="0"/>
          </a:p>
        </p:txBody>
      </p:sp>
      <p:sp>
        <p:nvSpPr>
          <p:cNvPr id="6" name="Text 4"/>
          <p:cNvSpPr/>
          <p:nvPr/>
        </p:nvSpPr>
        <p:spPr>
          <a:xfrm>
            <a:off x="713232" y="2395728"/>
            <a:ext cx="1783080" cy="1143000"/>
          </a:xfrm>
          <a:prstGeom prst="rect">
            <a:avLst/>
          </a:prstGeom>
          <a:noFill/>
          <a:ln/>
        </p:spPr>
        <p:txBody>
          <a:bodyPr wrap="square" lIns="0" tIns="0" rIns="0" bIns="0" rtlCol="0" anchor="ctr"/>
          <a:lstStyle/>
          <a:p>
            <a:pPr indent="0" marL="0">
              <a:lnSpc>
                <a:spcPct val="125000"/>
              </a:lnSpc>
              <a:buNone/>
            </a:pPr>
            <a:r>
              <a:rPr lang="en-US" sz="1050" dirty="0">
                <a:solidFill>
                  <a:srgbClr val="AEB8CC"/>
                </a:solidFill>
                <a:latin typeface="Calibri" pitchFamily="34" charset="0"/>
                <a:ea typeface="Calibri" pitchFamily="34" charset="-122"/>
                <a:cs typeface="Calibri" pitchFamily="34" charset="-120"/>
              </a:rPr>
              <a:t>Claims backed by evidence, not fluency</a:t>
            </a:r>
            <a:endParaRPr lang="en-US" sz="1050" dirty="0"/>
          </a:p>
        </p:txBody>
      </p:sp>
      <p:sp>
        <p:nvSpPr>
          <p:cNvPr id="7" name="Shape 5"/>
          <p:cNvSpPr/>
          <p:nvPr/>
        </p:nvSpPr>
        <p:spPr>
          <a:xfrm>
            <a:off x="2779776" y="1691640"/>
            <a:ext cx="2084832" cy="1920240"/>
          </a:xfrm>
          <a:prstGeom prst="roundRect">
            <a:avLst>
              <a:gd name="adj" fmla="val 3810"/>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8" name="Text 6"/>
          <p:cNvSpPr/>
          <p:nvPr/>
        </p:nvSpPr>
        <p:spPr>
          <a:xfrm>
            <a:off x="2944368" y="1874520"/>
            <a:ext cx="1783080" cy="502920"/>
          </a:xfrm>
          <a:prstGeom prst="rect">
            <a:avLst/>
          </a:prstGeom>
          <a:noFill/>
          <a:ln/>
        </p:spPr>
        <p:txBody>
          <a:bodyPr wrap="square" lIns="0" tIns="0" rIns="0" bIns="0" rtlCol="0" anchor="ctr"/>
          <a:lstStyle/>
          <a:p>
            <a:pPr indent="0" marL="0">
              <a:buNone/>
            </a:pPr>
            <a:r>
              <a:rPr lang="en-US" sz="1500" b="1" dirty="0">
                <a:solidFill>
                  <a:srgbClr val="6FE0A8"/>
                </a:solidFill>
                <a:latin typeface="Calibri" pitchFamily="34" charset="0"/>
                <a:ea typeface="Calibri" pitchFamily="34" charset="-122"/>
                <a:cs typeface="Calibri" pitchFamily="34" charset="-120"/>
              </a:rPr>
              <a:t>Controlled</a:t>
            </a:r>
            <a:endParaRPr lang="en-US" sz="1500" dirty="0"/>
          </a:p>
        </p:txBody>
      </p:sp>
      <p:sp>
        <p:nvSpPr>
          <p:cNvPr id="9" name="Text 7"/>
          <p:cNvSpPr/>
          <p:nvPr/>
        </p:nvSpPr>
        <p:spPr>
          <a:xfrm>
            <a:off x="2944368" y="2395728"/>
            <a:ext cx="1783080" cy="1143000"/>
          </a:xfrm>
          <a:prstGeom prst="rect">
            <a:avLst/>
          </a:prstGeom>
          <a:noFill/>
          <a:ln/>
        </p:spPr>
        <p:txBody>
          <a:bodyPr wrap="square" lIns="0" tIns="0" rIns="0" bIns="0" rtlCol="0" anchor="ctr"/>
          <a:lstStyle/>
          <a:p>
            <a:pPr indent="0" marL="0">
              <a:lnSpc>
                <a:spcPct val="125000"/>
              </a:lnSpc>
              <a:buNone/>
            </a:pPr>
            <a:r>
              <a:rPr lang="en-US" sz="1050" dirty="0">
                <a:solidFill>
                  <a:srgbClr val="AEB8CC"/>
                </a:solidFill>
                <a:latin typeface="Calibri" pitchFamily="34" charset="0"/>
                <a:ea typeface="Calibri" pitchFamily="34" charset="-122"/>
                <a:cs typeface="Calibri" pitchFamily="34" charset="-120"/>
              </a:rPr>
              <a:t>Values constrained by master data &amp; vocabulary</a:t>
            </a:r>
            <a:endParaRPr lang="en-US" sz="1050" dirty="0"/>
          </a:p>
        </p:txBody>
      </p:sp>
      <p:sp>
        <p:nvSpPr>
          <p:cNvPr id="10" name="Shape 8"/>
          <p:cNvSpPr/>
          <p:nvPr/>
        </p:nvSpPr>
        <p:spPr>
          <a:xfrm>
            <a:off x="5010912" y="1691640"/>
            <a:ext cx="2084832" cy="1920240"/>
          </a:xfrm>
          <a:prstGeom prst="roundRect">
            <a:avLst>
              <a:gd name="adj" fmla="val 3810"/>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11" name="Text 9"/>
          <p:cNvSpPr/>
          <p:nvPr/>
        </p:nvSpPr>
        <p:spPr>
          <a:xfrm>
            <a:off x="5175504" y="1874520"/>
            <a:ext cx="1783080" cy="502920"/>
          </a:xfrm>
          <a:prstGeom prst="rect">
            <a:avLst/>
          </a:prstGeom>
          <a:noFill/>
          <a:ln/>
        </p:spPr>
        <p:txBody>
          <a:bodyPr wrap="square" lIns="0" tIns="0" rIns="0" bIns="0" rtlCol="0" anchor="ctr"/>
          <a:lstStyle/>
          <a:p>
            <a:pPr indent="0" marL="0">
              <a:buNone/>
            </a:pPr>
            <a:r>
              <a:rPr lang="en-US" sz="1500" b="1" dirty="0">
                <a:solidFill>
                  <a:srgbClr val="6FE0A8"/>
                </a:solidFill>
                <a:latin typeface="Calibri" pitchFamily="34" charset="0"/>
                <a:ea typeface="Calibri" pitchFamily="34" charset="-122"/>
                <a:cs typeface="Calibri" pitchFamily="34" charset="-120"/>
              </a:rPr>
              <a:t>Explainable</a:t>
            </a:r>
            <a:endParaRPr lang="en-US" sz="1500" dirty="0"/>
          </a:p>
        </p:txBody>
      </p:sp>
      <p:sp>
        <p:nvSpPr>
          <p:cNvPr id="12" name="Text 10"/>
          <p:cNvSpPr/>
          <p:nvPr/>
        </p:nvSpPr>
        <p:spPr>
          <a:xfrm>
            <a:off x="5175504" y="2395728"/>
            <a:ext cx="1783080" cy="1143000"/>
          </a:xfrm>
          <a:prstGeom prst="rect">
            <a:avLst/>
          </a:prstGeom>
          <a:noFill/>
          <a:ln/>
        </p:spPr>
        <p:txBody>
          <a:bodyPr wrap="square" lIns="0" tIns="0" rIns="0" bIns="0" rtlCol="0" anchor="ctr"/>
          <a:lstStyle/>
          <a:p>
            <a:pPr indent="0" marL="0">
              <a:lnSpc>
                <a:spcPct val="125000"/>
              </a:lnSpc>
              <a:buNone/>
            </a:pPr>
            <a:r>
              <a:rPr lang="en-US" sz="1050" dirty="0">
                <a:solidFill>
                  <a:srgbClr val="AEB8CC"/>
                </a:solidFill>
                <a:latin typeface="Calibri" pitchFamily="34" charset="0"/>
                <a:ea typeface="Calibri" pitchFamily="34" charset="-122"/>
                <a:cs typeface="Calibri" pitchFamily="34" charset="-120"/>
              </a:rPr>
              <a:t>Provenance on every output field</a:t>
            </a:r>
            <a:endParaRPr lang="en-US" sz="1050" dirty="0"/>
          </a:p>
        </p:txBody>
      </p:sp>
      <p:sp>
        <p:nvSpPr>
          <p:cNvPr id="13" name="Shape 11"/>
          <p:cNvSpPr/>
          <p:nvPr/>
        </p:nvSpPr>
        <p:spPr>
          <a:xfrm>
            <a:off x="7242048" y="1691640"/>
            <a:ext cx="2084832" cy="1920240"/>
          </a:xfrm>
          <a:prstGeom prst="roundRect">
            <a:avLst>
              <a:gd name="adj" fmla="val 3810"/>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14" name="Text 12"/>
          <p:cNvSpPr/>
          <p:nvPr/>
        </p:nvSpPr>
        <p:spPr>
          <a:xfrm>
            <a:off x="7406640" y="1874520"/>
            <a:ext cx="1783080" cy="502920"/>
          </a:xfrm>
          <a:prstGeom prst="rect">
            <a:avLst/>
          </a:prstGeom>
          <a:noFill/>
          <a:ln/>
        </p:spPr>
        <p:txBody>
          <a:bodyPr wrap="square" lIns="0" tIns="0" rIns="0" bIns="0" rtlCol="0" anchor="ctr"/>
          <a:lstStyle/>
          <a:p>
            <a:pPr indent="0" marL="0">
              <a:buNone/>
            </a:pPr>
            <a:r>
              <a:rPr lang="en-US" sz="1500" b="1" dirty="0">
                <a:solidFill>
                  <a:srgbClr val="6FE0A8"/>
                </a:solidFill>
                <a:latin typeface="Calibri" pitchFamily="34" charset="0"/>
                <a:ea typeface="Calibri" pitchFamily="34" charset="-122"/>
                <a:cs typeface="Calibri" pitchFamily="34" charset="-120"/>
              </a:rPr>
              <a:t>Confidence-aware</a:t>
            </a:r>
            <a:endParaRPr lang="en-US" sz="1500" dirty="0"/>
          </a:p>
        </p:txBody>
      </p:sp>
      <p:sp>
        <p:nvSpPr>
          <p:cNvPr id="15" name="Text 13"/>
          <p:cNvSpPr/>
          <p:nvPr/>
        </p:nvSpPr>
        <p:spPr>
          <a:xfrm>
            <a:off x="7406640" y="2395728"/>
            <a:ext cx="1783080" cy="1143000"/>
          </a:xfrm>
          <a:prstGeom prst="rect">
            <a:avLst/>
          </a:prstGeom>
          <a:noFill/>
          <a:ln/>
        </p:spPr>
        <p:txBody>
          <a:bodyPr wrap="square" lIns="0" tIns="0" rIns="0" bIns="0" rtlCol="0" anchor="ctr"/>
          <a:lstStyle/>
          <a:p>
            <a:pPr indent="0" marL="0">
              <a:lnSpc>
                <a:spcPct val="125000"/>
              </a:lnSpc>
              <a:buNone/>
            </a:pPr>
            <a:r>
              <a:rPr lang="en-US" sz="1050" dirty="0">
                <a:solidFill>
                  <a:srgbClr val="AEB8CC"/>
                </a:solidFill>
                <a:latin typeface="Calibri" pitchFamily="34" charset="0"/>
                <a:ea typeface="Calibri" pitchFamily="34" charset="-122"/>
                <a:cs typeface="Calibri" pitchFamily="34" charset="-120"/>
              </a:rPr>
              <a:t>Uncertainty becomes review, not hallucination</a:t>
            </a:r>
            <a:endParaRPr lang="en-US" sz="1050" dirty="0"/>
          </a:p>
        </p:txBody>
      </p:sp>
      <p:sp>
        <p:nvSpPr>
          <p:cNvPr id="16" name="Shape 14"/>
          <p:cNvSpPr/>
          <p:nvPr/>
        </p:nvSpPr>
        <p:spPr>
          <a:xfrm>
            <a:off x="9473184" y="1691640"/>
            <a:ext cx="2084832" cy="1920240"/>
          </a:xfrm>
          <a:prstGeom prst="roundRect">
            <a:avLst>
              <a:gd name="adj" fmla="val 3810"/>
            </a:avLst>
          </a:prstGeom>
          <a:solidFill>
            <a:srgbClr val="1A2244"/>
          </a:solidFill>
          <a:ln w="12700">
            <a:solidFill>
              <a:srgbClr val="2A3A66"/>
            </a:solidFill>
            <a:prstDash val="solid"/>
          </a:ln>
          <a:effectLst>
            <a:outerShdw sx="100000" sy="100000" kx="0" ky="0" algn="bl" rotWithShape="0" blurRad="76200" dist="25400" dir="5400000">
              <a:srgbClr val="1A2233">
                <a:alpha val="8000"/>
              </a:srgbClr>
            </a:outerShdw>
          </a:effectLst>
        </p:spPr>
      </p:sp>
      <p:sp>
        <p:nvSpPr>
          <p:cNvPr id="17" name="Text 15"/>
          <p:cNvSpPr/>
          <p:nvPr/>
        </p:nvSpPr>
        <p:spPr>
          <a:xfrm>
            <a:off x="9637776" y="1874520"/>
            <a:ext cx="1783080" cy="502920"/>
          </a:xfrm>
          <a:prstGeom prst="rect">
            <a:avLst/>
          </a:prstGeom>
          <a:noFill/>
          <a:ln/>
        </p:spPr>
        <p:txBody>
          <a:bodyPr wrap="square" lIns="0" tIns="0" rIns="0" bIns="0" rtlCol="0" anchor="ctr"/>
          <a:lstStyle/>
          <a:p>
            <a:pPr indent="0" marL="0">
              <a:buNone/>
            </a:pPr>
            <a:r>
              <a:rPr lang="en-US" sz="1500" b="1" dirty="0">
                <a:solidFill>
                  <a:srgbClr val="6FE0A8"/>
                </a:solidFill>
                <a:latin typeface="Calibri" pitchFamily="34" charset="0"/>
                <a:ea typeface="Calibri" pitchFamily="34" charset="-122"/>
                <a:cs typeface="Calibri" pitchFamily="34" charset="-120"/>
              </a:rPr>
              <a:t>Hybrid</a:t>
            </a:r>
            <a:endParaRPr lang="en-US" sz="1500" dirty="0"/>
          </a:p>
        </p:txBody>
      </p:sp>
      <p:sp>
        <p:nvSpPr>
          <p:cNvPr id="18" name="Text 16"/>
          <p:cNvSpPr/>
          <p:nvPr/>
        </p:nvSpPr>
        <p:spPr>
          <a:xfrm>
            <a:off x="9637776" y="2395728"/>
            <a:ext cx="1783080" cy="1143000"/>
          </a:xfrm>
          <a:prstGeom prst="rect">
            <a:avLst/>
          </a:prstGeom>
          <a:noFill/>
          <a:ln/>
        </p:spPr>
        <p:txBody>
          <a:bodyPr wrap="square" lIns="0" tIns="0" rIns="0" bIns="0" rtlCol="0" anchor="ctr"/>
          <a:lstStyle/>
          <a:p>
            <a:pPr indent="0" marL="0">
              <a:lnSpc>
                <a:spcPct val="125000"/>
              </a:lnSpc>
              <a:buNone/>
            </a:pPr>
            <a:r>
              <a:rPr lang="en-US" sz="1050" dirty="0">
                <a:solidFill>
                  <a:srgbClr val="AEB8CC"/>
                </a:solidFill>
                <a:latin typeface="Calibri" pitchFamily="34" charset="0"/>
                <a:ea typeface="Calibri" pitchFamily="34" charset="-122"/>
                <a:cs typeface="Calibri" pitchFamily="34" charset="-120"/>
              </a:rPr>
              <a:t>Rules + retrieval + LLM + validation, together</a:t>
            </a:r>
            <a:endParaRPr lang="en-US" sz="1050" dirty="0"/>
          </a:p>
        </p:txBody>
      </p:sp>
      <p:sp>
        <p:nvSpPr>
          <p:cNvPr id="19" name="Shape 17"/>
          <p:cNvSpPr/>
          <p:nvPr/>
        </p:nvSpPr>
        <p:spPr>
          <a:xfrm>
            <a:off x="548640" y="3977640"/>
            <a:ext cx="10881360" cy="2148840"/>
          </a:xfrm>
          <a:prstGeom prst="roundRect">
            <a:avLst>
              <a:gd name="adj" fmla="val 3404"/>
            </a:avLst>
          </a:prstGeom>
          <a:solidFill>
            <a:srgbClr val="1D5FD6"/>
          </a:solidFill>
          <a:ln w="12700">
            <a:solidFill>
              <a:srgbClr val="E2E6EC"/>
            </a:solidFill>
            <a:prstDash val="solid"/>
          </a:ln>
        </p:spPr>
      </p:sp>
      <p:sp>
        <p:nvSpPr>
          <p:cNvPr id="20" name="Text 18"/>
          <p:cNvSpPr/>
          <p:nvPr/>
        </p:nvSpPr>
        <p:spPr>
          <a:xfrm>
            <a:off x="868680" y="4160520"/>
            <a:ext cx="1005840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DYNAMIC — not sample memorization</a:t>
            </a:r>
            <a:endParaRPr lang="en-US" sz="1300" dirty="0"/>
          </a:p>
        </p:txBody>
      </p:sp>
      <p:sp>
        <p:nvSpPr>
          <p:cNvPr id="21" name="Text 19"/>
          <p:cNvSpPr/>
          <p:nvPr/>
        </p:nvSpPr>
        <p:spPr>
          <a:xfrm>
            <a:off x="868680" y="4572000"/>
            <a:ext cx="10241280" cy="1417320"/>
          </a:xfrm>
          <a:prstGeom prst="rect">
            <a:avLst/>
          </a:prstGeom>
          <a:noFill/>
          <a:ln/>
        </p:spPr>
        <p:txBody>
          <a:bodyPr wrap="square" lIns="0" tIns="0" rIns="0" bIns="0" rtlCol="0" anchor="ctr"/>
          <a:lstStyle/>
          <a:p>
            <a:pPr indent="0" marL="0">
              <a:lnSpc>
                <a:spcPct val="135000"/>
              </a:lnSpc>
              <a:buNone/>
            </a:pPr>
            <a:r>
              <a:rPr lang="en-US" sz="1350" dirty="0">
                <a:solidFill>
                  <a:srgbClr val="EAF0FF"/>
                </a:solidFill>
                <a:latin typeface="Calibri" pitchFamily="34" charset="0"/>
                <a:ea typeface="Calibri" pitchFamily="34" charset="-122"/>
                <a:cs typeface="Calibri" pitchFamily="34" charset="-120"/>
              </a:rPr>
              <a:t>Works on unseen MPNs, unseen descriptions, unseen manufacturers — not just the 1,000-row sample. Verified by test_completely_unseen_row_never_crashes_and_never_fabricates_manufacturer, which runs an MPN and description that appear in no sample file and asserts the system never invents a manufacturer it can't justify from master data or text evidence.</a:t>
            </a:r>
            <a:endParaRPr lang="en-US" sz="1350" dirty="0"/>
          </a:p>
        </p:txBody>
      </p:sp>
      <p:sp>
        <p:nvSpPr>
          <p:cNvPr id="22" name="Text 20"/>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 / 20</a:t>
            </a:r>
            <a:endParaRPr lang="en-US" sz="900" dirty="0"/>
          </a:p>
        </p:txBody>
      </p:sp>
      <p:sp>
        <p:nvSpPr>
          <p:cNvPr id="23" name="Text 21"/>
          <p:cNvSpPr/>
          <p:nvPr/>
        </p:nvSpPr>
        <p:spPr>
          <a:xfrm>
            <a:off x="548640" y="6400800"/>
            <a:ext cx="4572000" cy="274320"/>
          </a:xfrm>
          <a:prstGeom prst="rect">
            <a:avLst/>
          </a:prstGeom>
          <a:noFill/>
          <a:ln/>
        </p:spPr>
        <p:txBody>
          <a:bodyPr wrap="square" lIns="0" tIns="0" rIns="0" bIns="0" rtlCol="0" anchor="ctr"/>
          <a:lstStyle/>
          <a:p>
            <a:pPr indent="0" marL="0">
              <a:buNone/>
            </a:pPr>
            <a:r>
              <a:rPr lang="en-US" sz="900" spc="100" kern="0" dirty="0">
                <a:solidFill>
                  <a:srgbClr val="8F9BB3"/>
                </a:solidFill>
                <a:latin typeface="Calibri" pitchFamily="34" charset="0"/>
                <a:ea typeface="Calibri" pitchFamily="34" charset="-122"/>
                <a:cs typeface="Calibri" pitchFamily="34" charset="-120"/>
              </a:rPr>
              <a:t>UNILOG PRODUCT INTELLIGENCE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A2650"/>
          </a:solidFill>
          <a:ln/>
        </p:spPr>
      </p:sp>
      <p:sp>
        <p:nvSpPr>
          <p:cNvPr id="3" name="Text 1"/>
          <p:cNvSpPr/>
          <p:nvPr/>
        </p:nvSpPr>
        <p:spPr>
          <a:xfrm>
            <a:off x="914400" y="2286000"/>
            <a:ext cx="1033272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We don't ask the LLM to invent product content.</a:t>
            </a:r>
            <a:endParaRPr lang="en-US" sz="3000" dirty="0"/>
          </a:p>
        </p:txBody>
      </p:sp>
      <p:sp>
        <p:nvSpPr>
          <p:cNvPr id="4" name="Text 2"/>
          <p:cNvSpPr/>
          <p:nvPr/>
        </p:nvSpPr>
        <p:spPr>
          <a:xfrm>
            <a:off x="914400" y="3246120"/>
            <a:ext cx="10241280" cy="914400"/>
          </a:xfrm>
          <a:prstGeom prst="rect">
            <a:avLst/>
          </a:prstGeom>
          <a:noFill/>
          <a:ln/>
        </p:spPr>
        <p:txBody>
          <a:bodyPr wrap="square" lIns="0" tIns="0" rIns="0" bIns="0" rtlCol="0" anchor="ctr"/>
          <a:lstStyle/>
          <a:p>
            <a:pPr indent="0" marL="0">
              <a:lnSpc>
                <a:spcPct val="135000"/>
              </a:lnSpc>
              <a:buNone/>
            </a:pPr>
            <a:r>
              <a:rPr lang="en-US" sz="1600" i="1" dirty="0">
                <a:solidFill>
                  <a:srgbClr val="C6CEDD"/>
                </a:solidFill>
                <a:latin typeface="Calibri" pitchFamily="34" charset="0"/>
                <a:ea typeface="Calibri" pitchFamily="34" charset="-122"/>
                <a:cs typeface="Calibri" pitchFamily="34" charset="-120"/>
              </a:rPr>
              <a:t>We build a constrained product-intelligence pipeline that combines master data,</a:t>
            </a:r>
            <a:endParaRPr lang="en-US" sz="1600" dirty="0"/>
          </a:p>
          <a:p>
            <a:pPr indent="0" marL="0">
              <a:lnSpc>
                <a:spcPct val="135000"/>
              </a:lnSpc>
              <a:buNone/>
            </a:pPr>
            <a:r>
              <a:rPr lang="en-US" sz="1600" i="1" dirty="0">
                <a:solidFill>
                  <a:srgbClr val="C6CEDD"/>
                </a:solidFill>
                <a:latin typeface="Calibri" pitchFamily="34" charset="0"/>
                <a:ea typeface="Calibri" pitchFamily="34" charset="-122"/>
                <a:cs typeface="Calibri" pitchFamily="34" charset="-120"/>
              </a:rPr>
              <a:t>retrieval, AI reasoning, normalization, evidence, and validation.</a:t>
            </a:r>
            <a:endParaRPr lang="en-US" sz="1600" dirty="0"/>
          </a:p>
        </p:txBody>
      </p:sp>
      <p:sp>
        <p:nvSpPr>
          <p:cNvPr id="5" name="Text 3"/>
          <p:cNvSpPr/>
          <p:nvPr/>
        </p:nvSpPr>
        <p:spPr>
          <a:xfrm>
            <a:off x="914400" y="5943600"/>
            <a:ext cx="7315200" cy="365760"/>
          </a:xfrm>
          <a:prstGeom prst="rect">
            <a:avLst/>
          </a:prstGeom>
          <a:noFill/>
          <a:ln/>
        </p:spPr>
        <p:txBody>
          <a:bodyPr wrap="square" lIns="0" tIns="0" rIns="0" bIns="0" rtlCol="0" anchor="ctr"/>
          <a:lstStyle/>
          <a:p>
            <a:pPr indent="0" marL="0">
              <a:buNone/>
            </a:pPr>
            <a:r>
              <a:rPr lang="en-US" sz="1200" b="1" dirty="0">
                <a:solidFill>
                  <a:srgbClr val="6FA1FF"/>
                </a:solidFill>
                <a:latin typeface="Calibri" pitchFamily="34" charset="0"/>
                <a:ea typeface="Calibri" pitchFamily="34" charset="-122"/>
                <a:cs typeface="Calibri" pitchFamily="34" charset="-120"/>
              </a:rPr>
              <a:t>Unilog Product Intelligence — AI Product Data Compiler</a:t>
            </a:r>
            <a:endParaRPr lang="en-US" sz="1200" dirty="0"/>
          </a:p>
        </p:txBody>
      </p:sp>
      <p:sp>
        <p:nvSpPr>
          <p:cNvPr id="6" name="Text 4"/>
          <p:cNvSpPr/>
          <p:nvPr/>
        </p:nvSpPr>
        <p:spPr>
          <a:xfrm>
            <a:off x="11000232" y="6400800"/>
            <a:ext cx="9144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2026-08-23T18:09:48Z</dcterms:created>
  <dcterms:modified xsi:type="dcterms:W3CDTF">2026-08-23T18:09:48Z</dcterms:modified>
</cp:coreProperties>
</file>